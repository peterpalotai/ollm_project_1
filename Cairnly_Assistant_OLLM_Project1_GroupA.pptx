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5" r:id="rId5"/>
    <p:sldMasterId id="2147483657" r:id="rId6"/>
    <p:sldMasterId id="2147483659" r:id="rId7"/>
  </p:sldMasterIdLst>
  <p:notesMasterIdLst>
    <p:notesMasterId r:id="rId8"/>
  </p:notesMasterIdLst>
  <p:sldIdLst>
    <p:sldId id="256" r:id="rId9"/>
    <p:sldId id="257" r:id="rId10"/>
    <p:sldId id="258" r:id="rId11"/>
    <p:sldId id="259" r:id="rId12"/>
    <p:sldId id="260" r:id="rId13"/>
    <p:sldId id="261" r:id="rId14"/>
    <p:sldId id="262" r:id="rId16"/>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presProps" Target="presProps.xml"/><Relationship Id="rId16"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hu-HU" sz="3200" b="0" u="none" strike="noStrike">
                <a:solidFill>
                  <a:schemeClr val="lt1"/>
                </a:solidFill>
                <a:effectLst/>
                <a:uFillTx/>
                <a:latin typeface="Georgia"/>
              </a:rPr>
              <a:t>Click to move the slide</a:t>
            </a:r>
            <a:endParaRPr lang="hu-HU" sz="3200" b="0" u="none" strike="noStrike">
              <a:solidFill>
                <a:schemeClr val="lt1"/>
              </a:solidFill>
              <a:effectLst/>
              <a:uFillTx/>
              <a:latin typeface="Georgia"/>
            </a:endParaRPr>
          </a:p>
        </p:txBody>
      </p:sp>
      <p:sp>
        <p:nvSpPr>
          <p:cNvPr id="4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8"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9" name="PlaceHolder 4"/>
          <p:cNvSpPr>
            <a:spLocks noGrp="1"/>
          </p:cNvSpPr>
          <p:nvPr>
            <p:ph type="dt" idx="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0" name="PlaceHolder 5"/>
          <p:cNvSpPr>
            <a:spLocks noGrp="1"/>
          </p:cNvSpPr>
          <p:nvPr>
            <p:ph type="ftr" idx="7"/>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 name="PlaceHolder 6"/>
          <p:cNvSpPr>
            <a:spLocks noGrp="1"/>
          </p:cNvSpPr>
          <p:nvPr>
            <p:ph type="sldNum" idx="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732649-4EA8-4EEB-B8E5-93B4A305F655}"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5680" cy="3085560"/>
          </a:xfrm>
          <a:prstGeom prst="rect">
            <a:avLst/>
          </a:prstGeom>
          <a:ln w="0">
            <a:noFill/>
          </a:ln>
        </p:spPr>
      </p:sp>
      <p:sp>
        <p:nvSpPr>
          <p:cNvPr id="15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Introduce the team and the academic task. Project 1 is to build a functioning LLM application, not to deliver a production service. The organization in the scenario is fictional.</a:t>
            </a:r>
            <a:endParaRPr lang="en-US" sz="2000" b="0" u="none" strike="noStrike">
              <a:solidFill>
                <a:srgbClr val="000000"/>
              </a:solidFill>
              <a:effectLst/>
              <a:uFillTx/>
              <a:latin typeface="Arial"/>
            </a:endParaRPr>
          </a:p>
        </p:txBody>
      </p:sp>
      <p:sp>
        <p:nvSpPr>
          <p:cNvPr id="156"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7EBB1270-2F21-461A-8C49-3A5EEF29331B}"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sldImg"/>
          </p:nvPr>
        </p:nvSpPr>
        <p:spPr>
          <a:xfrm>
            <a:off x="685800" y="1143000"/>
            <a:ext cx="5485680" cy="3085560"/>
          </a:xfrm>
          <a:prstGeom prst="rect">
            <a:avLst/>
          </a:prstGeom>
          <a:ln w="0">
            <a:noFill/>
          </a:ln>
        </p:spPr>
      </p:sp>
      <p:sp>
        <p:nvSpPr>
          <p:cNvPr id="15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Recurring questions include shipping, returns and order status. Every message gets one of 7 categories and an urgency level (low, medium, high). Both data sources were authored by the group for the assignment and contain no real personal data: 25 Help Centre documents and 5 invented orders in a read-only SQLite database. The orders table contains example e-mail addresses, but the bot does not use them: the order number alone is enough for a lookup. Demonstrate an FAQ question and a status lookup; explain that the current restrictions are design choices, not deployable privacy guarantees.</a:t>
            </a:r>
            <a:endParaRPr lang="en-US" sz="2000" b="0" u="none" strike="noStrike">
              <a:solidFill>
                <a:srgbClr val="000000"/>
              </a:solidFill>
              <a:effectLst/>
              <a:uFillTx/>
              <a:latin typeface="Arial"/>
            </a:endParaRPr>
          </a:p>
        </p:txBody>
      </p:sp>
      <p:sp>
        <p:nvSpPr>
          <p:cNvPr id="159"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9653DD0E-DAE6-419C-B659-7048A8359855}"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685800" y="1143000"/>
            <a:ext cx="5485680" cy="3085560"/>
          </a:xfrm>
          <a:prstGeom prst="rect">
            <a:avLst/>
          </a:prstGeom>
          <a:ln w="0">
            <a:noFill/>
          </a:ln>
        </p:spPr>
      </p:sp>
      <p:sp>
        <p:nvSpPr>
          <p:cNvPr id="1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demo and evaluation import the same chatbot.py implementation. Explain the input filters (regex masking of card numbers, e-mails and phone numbers; a fixed list of 9 attack phrases), e5 semantic search (multilingual-e5-small, top 3 of 25 documents), the fixed prompt with 3 few-shot examples, the optional read-only order lookup and the JSON and safety checks (the output filter blocks a leaked prompt canary or a card number). The chatbot uses gpt-oss-120b on Groq at temperature 0.2 and keeps the last 5 turns. Of the 6 retrieval strategies, e5 scored best (recall@3 0.96, MRR 0.90; RRF 0.85, hybrid TF-IDF 0.81, BM25 0.69). The 86% token saving (316 vs. 2,329 tokens) is measured for one example question. A live demonstration can be given here.</a:t>
            </a:r>
            <a:endParaRPr lang="en-US" sz="2000" b="0" u="none" strike="noStrike">
              <a:solidFill>
                <a:srgbClr val="000000"/>
              </a:solidFill>
              <a:effectLst/>
              <a:uFillTx/>
              <a:latin typeface="Arial"/>
            </a:endParaRPr>
          </a:p>
        </p:txBody>
      </p:sp>
      <p:sp>
        <p:nvSpPr>
          <p:cNvPr id="16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CCFBD3E6-F436-4BDC-A7D2-06DDD6E675B6}"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685800" y="1143000"/>
            <a:ext cx="5485680" cy="3085560"/>
          </a:xfrm>
          <a:prstGeom prst="rect">
            <a:avLst/>
          </a:prstGeom>
          <a:ln w="0">
            <a:noFill/>
          </a:ln>
        </p:spPr>
      </p:sp>
      <p:sp>
        <p:nvSpPr>
          <p:cNvPr id="16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34 cases were written before the first evaluation run and later revised only to follow design changes (the e-mail check and the human hand-off were removed); the latest run also normalised dashes in two reference answers. Explain the pass criteria and the range of stress situations: the 4 order lookups cover a shipped, a delivered and a delayed order plus an unknown order number. Highlight the rule-based checker and the additional judge and ablation as complementary evidence. Retrieval is scored separately on the 27 cases with a gold document (precision@3, recall@3, MRR).</a:t>
            </a:r>
            <a:endParaRPr lang="en-US" sz="2000" b="0" u="none" strike="noStrike">
              <a:solidFill>
                <a:srgbClr val="000000"/>
              </a:solidFill>
              <a:effectLst/>
              <a:uFillTx/>
              <a:latin typeface="Arial"/>
            </a:endParaRPr>
          </a:p>
        </p:txBody>
      </p:sp>
      <p:sp>
        <p:nvSpPr>
          <p:cNvPr id="165"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43F602-DC6F-49C7-9179-8B90DB88D6CC}"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685800" y="1143000"/>
            <a:ext cx="5485680" cy="3085560"/>
          </a:xfrm>
          <a:prstGeom prst="rect">
            <a:avLst/>
          </a:prstGeom>
          <a:ln w="0">
            <a:noFill/>
          </a:ln>
        </p:spPr>
      </p:sp>
      <p:sp>
        <p:nvSpPr>
          <p:cNvPr id="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Focus on evidence rather than promotional benefits. 33 of 34 passed the test rubric. The one failure, T30, is a keyword grading issue: the bot correctly refused to use the card details (“I’m sorry, but I can’t process payments…”), but that wording is not in our refusal-keyword list. The gpt-oss-20b judge gave all 34 answers 5/5 for correctness and groundedness (helpfulness 4.59) and agreed with the rule-based result in 33/34 cases; T30 is the only disagreement. Category accuracy (97%) is higher than urgency accuracy (88%; misses T18, T20, T22, T24). The guardrail ablation difference comes from T28 only: without the filter the model still refused, but missed the refusal keywords. Order lookups need two LLM calls (about 3,100 prompt tokens) and took 16–24 s, against an 8.1 s mean.</a:t>
            </a:r>
            <a:endParaRPr lang="en-US" sz="2000" b="0" u="none" strike="noStrike">
              <a:solidFill>
                <a:srgbClr val="000000"/>
              </a:solidFill>
              <a:effectLst/>
              <a:uFillTx/>
              <a:latin typeface="Arial"/>
            </a:endParaRPr>
          </a:p>
        </p:txBody>
      </p:sp>
      <p:sp>
        <p:nvSpPr>
          <p:cNvPr id="168"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68165B-3EAB-4219-8C1C-B761D1EA2AD2}"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685800" y="1143000"/>
            <a:ext cx="5485680" cy="3085560"/>
          </a:xfrm>
          <a:prstGeom prst="rect">
            <a:avLst/>
          </a:prstGeom>
          <a:ln w="0">
            <a:noFill/>
          </a:ln>
        </p:spPr>
      </p:sp>
      <p:sp>
        <p:nvSpPr>
          <p:cNvPr id="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explicit: there are real privacy, safety, and reliability gaps. Any order number can retrieve status, and the order-number format is not validated before the lookup. Card masking is incomplete (CVV and expiry stay visible), and the phone regex also masks dates such as 2026-10-12. The attack filter only matches a fixed list of 9 known phrases, and tag stripping is a single regex pass, so nested tags can rebuild a delimiter tag. Retrieval has no similarity threshold, so the top 3 documents are always sent even when none is relevant, and there is no limit on tool calls per turn. Blocked messages still stay in the conversation history. If an API error persists after the Groq SDK’s two default retries, the reply stays empty. Scoring is limited: keyword checks miss correctly worded refusals (T30), and the judge is a smaller model from the same family as the chatbot, so its perfect correctness scores are probably generous. Our injection defences follow OWASP’s mitigations (phrase filter, delimiter tags, output checks, read-only tool); the main protection is that the only tool is a narrow read-only order lookup.</a:t>
            </a:r>
            <a:endParaRPr lang="en-US" sz="2000" b="0" u="none" strike="noStrike">
              <a:solidFill>
                <a:srgbClr val="000000"/>
              </a:solidFill>
              <a:effectLst/>
              <a:uFillTx/>
              <a:latin typeface="Arial"/>
            </a:endParaRPr>
          </a:p>
        </p:txBody>
      </p:sp>
      <p:sp>
        <p:nvSpPr>
          <p:cNvPr id="171"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DCC652D-A42D-4917-9D08-EE3CE8E9CD54}"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Appendix / backup slide, beyond the 6-slide main deck; show it only if there is time or a question about the demo. Left: an earlier prototype from 16 October (commit 7e9594d), run in the Jupyter notebook. Settings then: temperature 0.2, a maximum of 1,000 completion tokens, and the order lookup required the customer's e-mail address (the tool first returned 'verification_required'). After the customer gave the e-mail, the model got stuck in a repetition loop; the 1,000-token cap truncated the output before the JSON closed, so it could not be parsed and the category and urgency came out as None. The next commit (7053af0) raised the cap to 2,500 tokens and removed the e-mail check, so the order number alone is now enough. Temperature is still 0.2 today, so the fix was the token cap, not the temperature. Right: the current version in the Streamlit web chat. The same conversation mixes Hungarian, Finnish and English, and each reply follows the language of the customer's latest message because of a rule in the prompt. The multilingual e5 embeddings retrieve the right Help Centre documents across languages, e.g. the 30-day free returns policy for the Finnish question, and the order lookup (A1001, already shipped) works without an e-mail address.</a:t>
            </a:r>
          </a:p>
        </p:txBody>
      </p:sp>
      <p:sp>
        <p:nvSpPr>
          <p:cNvPr id="4" name="Slide Number Placeholder 3"/>
          <p:cNvSpPr>
            <a:spLocks noGrp="1"/>
          </p:cNvSpPr>
          <p:nvPr>
            <p:ph type="sldNum" idx="8"/>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nyito_slide_3_soros_szoveg_b">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10"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1"/>
          </p:nvPr>
        </p:nvSpPr>
        <p:spPr/>
        <p:txBody>
          <a:bodyPr/>
          <a:p>
            <a:fld id="{EC4DA5B0-284F-4783-9BE6-87FB065FA7B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3_Üres">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39FB65D9-DBEC-4831-A613-65F280B67C9A}"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2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3"/>
          </p:nvPr>
        </p:nvSpPr>
        <p:spPr/>
        <p:txBody>
          <a:bodyPr/>
          <a:p>
            <a:fld id="{CF87B0EB-A577-43C2-8CF1-D287D068708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06F4928E-6124-47AA-9C51-7C74AF11FE3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82B37F0D-E755-4DF6-856B-ED5C87F98A35}"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4_Üres">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086CF972-F3E1-4722-860F-AD765F05D68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3">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2.png"/><Relationship Id="rId3"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Relationship Id="rId4" Type="http://schemas.openxmlformats.org/officeDocument/2006/relationships/slideLayout" Target="../slideLayouts/slideLayout4.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2.png"/><Relationship Id="rId3" Type="http://schemas.openxmlformats.org/officeDocument/2006/relationships/slideLayout" Target="../slideLayouts/slideLayout5.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2.png"/><Relationship Id="rId3" Type="http://schemas.openxmlformats.org/officeDocument/2006/relationships/slideLayout" Target="../slideLayouts/slideLayout6.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2.png"/><Relationship Id="rId3" Type="http://schemas.openxmlformats.org/officeDocument/2006/relationships/slideLayout" Target="../slideLayouts/slideLayout7.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2" name="Téglalap 2"/>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 name="Szalagív 3"/>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4" name="Szalagív 13"/>
          <p:cNvSpPr/>
          <p:nvPr/>
        </p:nvSpPr>
        <p:spPr>
          <a:xfrm>
            <a:off x="297468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5" name="Kép 10"/>
          <p:cNvPicPr/>
          <p:nvPr/>
        </p:nvPicPr>
        <p:blipFill>
          <a:blip r:embed="rId2"/>
          <a:stretch/>
        </p:blipFill>
        <p:spPr>
          <a:xfrm>
            <a:off x="370440" y="6153120"/>
            <a:ext cx="1063800" cy="356040"/>
          </a:xfrm>
          <a:prstGeom prst="rect">
            <a:avLst/>
          </a:prstGeom>
          <a:noFill/>
          <a:ln w="0">
            <a:noFill/>
          </a:ln>
        </p:spPr>
      </p:pic>
      <p:sp>
        <p:nvSpPr>
          <p:cNvPr id="6" name="PlaceHolder 1"/>
          <p:cNvSpPr>
            <a:spLocks noGrp="1"/>
          </p:cNvSpPr>
          <p:nvPr>
            <p:ph type="title"/>
          </p:nvPr>
        </p:nvSpPr>
        <p:spPr>
          <a:xfrm>
            <a:off x="609480" y="601560"/>
            <a:ext cx="10972080" cy="488160"/>
          </a:xfrm>
          <a:prstGeom prst="rect">
            <a:avLst/>
          </a:prstGeom>
          <a:noFill/>
          <a:ln w="0">
            <a:noFill/>
          </a:ln>
        </p:spPr>
        <p:txBody>
          <a:bodyPr lIns="0" tIns="0" rIns="0" bIns="0" anchor="ctr">
            <a:spAutoFit/>
          </a:bodyPr>
          <a:lstStyle>
            <a:lvl1pPr indent="0" algn="l" defTabSz="914400">
              <a:buNone/>
              <a:tabLst>
                <a:tab pos="0" algn="l"/>
              </a:tabLst>
              <a:defRPr lang="hu-HU" sz="3200" b="0" u="none" strike="noStrike">
                <a:solidFill>
                  <a:schemeClr val="lt1"/>
                </a:solidFill>
                <a:effectLst/>
                <a:uFillTx/>
                <a:latin typeface="Georgia"/>
              </a:defRPr>
            </a:lvl1pPr>
          </a:lstStyle>
          <a:p>
            <a:pPr indent="0" algn="l" defTabSz="914400">
              <a:buNone/>
              <a:tabLst>
                <a:tab pos="0" algn="l"/>
              </a:tabLst>
            </a:pPr>
            <a:r>
              <a:rPr lang="hu-HU" sz="3200" b="0" u="none" strike="noStrike">
                <a:solidFill>
                  <a:schemeClr val="lt1"/>
                </a:solidFill>
                <a:effectLst/>
                <a:uFillTx/>
                <a:latin typeface="Georgia"/>
              </a:rPr>
              <a:t>Click to </a:t>
            </a:r>
            <a:r>
              <a:rPr lang="hu-HU" sz="3200" b="0" u="none" strike="noStrike">
                <a:solidFill>
                  <a:schemeClr val="lt1"/>
                </a:solidFill>
                <a:effectLst/>
                <a:uFillTx/>
                <a:latin typeface="Georgia"/>
              </a:rPr>
              <a:t>edit the </a:t>
            </a:r>
            <a:r>
              <a:rPr lang="hu-HU" sz="3200" b="0" u="none" strike="noStrike">
                <a:solidFill>
                  <a:schemeClr val="lt1"/>
                </a:solidFill>
                <a:effectLst/>
                <a:uFillTx/>
                <a:latin typeface="Georgia"/>
              </a:rPr>
              <a:t>title text </a:t>
            </a:r>
            <a:r>
              <a:rPr lang="hu-HU" sz="3200" b="0" u="none" strike="noStrike">
                <a:solidFill>
                  <a:schemeClr val="lt1"/>
                </a:solidFill>
                <a:effectLst/>
                <a:uFillTx/>
                <a:latin typeface="Georgia"/>
              </a:rPr>
              <a:t>format</a:t>
            </a:r>
            <a:endParaRPr lang="hu-HU" sz="3200" b="0" u="none" strike="noStrike">
              <a:solidFill>
                <a:schemeClr val="lt1"/>
              </a:solidFill>
              <a:effectLst/>
              <a:uFillTx/>
              <a:latin typeface="Georgia"/>
            </a:endParaRPr>
          </a:p>
        </p:txBody>
      </p:sp>
      <p:sp>
        <p:nvSpPr>
          <p:cNvPr id="7" name="PlaceHolder 2"/>
          <p:cNvSpPr>
            <a:spLocks noGrp="1"/>
          </p:cNvSpPr>
          <p:nvPr>
            <p:ph type="sldNum" idx="1"/>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93A627D7-04A8-4234-B7A1-A252C273E698}" type="slidenum">
              <a:rPr lang="hu-HU" sz="1200" b="0" u="none" strike="noStrike">
                <a:solidFill>
                  <a:schemeClr val="lt1"/>
                </a:solidFill>
                <a:effectLst/>
                <a:uFillTx/>
                <a:latin typeface="Arial"/>
              </a:rPr>
              <a:t>&lt;number&gt;</a:t>
            </a:fld>
            <a:endParaRPr lang="en-US" sz="1200" b="0" u="none" strike="noStrike">
              <a:solidFill>
                <a:srgbClr val="FFFFFF"/>
              </a:solidFill>
              <a:effectLst/>
              <a:uFillTx/>
              <a:latin typeface="Times New Roman"/>
            </a:endParaRPr>
          </a:p>
        </p:txBody>
      </p:sp>
      <p:sp>
        <p:nvSpPr>
          <p:cNvPr id="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200" b="0" u="none" strike="noStrike">
                <a:solidFill>
                  <a:schemeClr val="lt1"/>
                </a:solidFill>
                <a:effectLst/>
                <a:uFillTx/>
                <a:latin typeface="Arial"/>
              </a:defRPr>
            </a:lvl1pPr>
            <a:lvl2pPr lvl="1" algn="l" defTabSz="914400">
              <a:lnSpc>
                <a:spcPts val="601"/>
              </a:lnSpc>
              <a:spcBef>
                <a:spcPts val="1134"/>
              </a:spcBef>
              <a:buClr>
                <a:srgbClr val="FFFFFF"/>
              </a:buClr>
              <a:buSzPct val="75000"/>
              <a:buFont typeface="Symbol" charset="2"/>
              <a:buChar char=""/>
              <a:tabLst>
                <a:tab pos="0" algn="l"/>
              </a:tabLst>
              <a:defRPr lang="hu-HU" sz="2800" b="0" u="none" strike="noStrike">
                <a:solidFill>
                  <a:schemeClr val="lt1"/>
                </a:solidFill>
                <a:effectLst/>
                <a:uFillTx/>
                <a:latin typeface="Arial"/>
              </a:defRPr>
            </a:lvl2pPr>
            <a:lvl3pPr lvl="2" algn="l" defTabSz="914400">
              <a:lnSpc>
                <a:spcPts val="601"/>
              </a:lnSpc>
              <a:spcBef>
                <a:spcPts val="850"/>
              </a:spcBef>
              <a:buClr>
                <a:srgbClr val="FFFFFF"/>
              </a:buClr>
              <a:buSzPct val="45000"/>
              <a:buFont typeface="Wingdings" charset="2"/>
              <a:buChar char=""/>
              <a:tabLst>
                <a:tab pos="0" algn="l"/>
              </a:tabLst>
              <a:defRPr lang="hu-HU" sz="2400" b="0" u="none" strike="noStrike">
                <a:solidFill>
                  <a:schemeClr val="lt1"/>
                </a:solidFill>
                <a:effectLst/>
                <a:uFillTx/>
                <a:latin typeface="Arial"/>
              </a:defRPr>
            </a:lvl3pPr>
            <a:lvl4pPr lvl="3" algn="l" defTabSz="914400">
              <a:lnSpc>
                <a:spcPts val="601"/>
              </a:lnSpc>
              <a:spcBef>
                <a:spcPts val="567"/>
              </a:spcBef>
              <a:buClr>
                <a:srgbClr val="FFFFFF"/>
              </a:buClr>
              <a:buSzPct val="75000"/>
              <a:buFont typeface="Symbol" charset="2"/>
              <a:buChar char=""/>
              <a:tabLst>
                <a:tab pos="0" algn="l"/>
              </a:tabLst>
              <a:defRPr lang="hu-HU" sz="2000" b="0" u="none" strike="noStrike">
                <a:solidFill>
                  <a:schemeClr val="lt1"/>
                </a:solidFill>
                <a:effectLst/>
                <a:uFillTx/>
                <a:latin typeface="Arial"/>
              </a:defRPr>
            </a:lvl4pPr>
            <a:lvl5pPr lvl="4"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5pPr>
            <a:lvl6pPr lvl="5"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6pPr>
            <a:lvl7pPr lvl="6"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7pPr>
          </a:lstStyle>
          <a:p>
            <a:pPr indent="0" algn="l" defTabSz="914400">
              <a:lnSpc>
                <a:spcPts val="601"/>
              </a:lnSpc>
              <a:spcBef>
                <a:spcPts val="1001"/>
              </a:spcBef>
              <a:tabLst>
                <a:tab pos="0" algn="l"/>
              </a:tabLst>
            </a:pPr>
            <a:r>
              <a:rPr lang="hu-HU" sz="1200" b="0" u="none" strike="noStrike">
                <a:solidFill>
                  <a:schemeClr val="lt1"/>
                </a:solidFill>
                <a:effectLst/>
                <a:uFillTx/>
                <a:latin typeface="Arial"/>
              </a:rPr>
              <a:t>Click to edit the outline text format</a:t>
            </a:r>
            <a:endParaRPr lang="hu-HU" sz="1200" b="0" u="none" strike="noStrike">
              <a:solidFill>
                <a:schemeClr val="lt1"/>
              </a:solidFill>
              <a:effectLst/>
              <a:uFillTx/>
              <a:latin typeface="Arial"/>
            </a:endParaRPr>
          </a:p>
          <a:p>
            <a:pPr marL="864000" lvl="1" indent="-324000" algn="l" defTabSz="914400">
              <a:lnSpc>
                <a:spcPts val="601"/>
              </a:lnSpc>
              <a:spcBef>
                <a:spcPts val="1134"/>
              </a:spcBef>
              <a:buClr>
                <a:srgbClr val="FFFFFF"/>
              </a:buClr>
              <a:buSzPct val="75000"/>
              <a:buFont typeface="Symbol" charset="2"/>
              <a:buChar char=""/>
              <a:tabLst>
                <a:tab pos="0" algn="l"/>
              </a:tabLst>
            </a:pPr>
            <a:r>
              <a:rPr lang="hu-HU" sz="2800" b="0" u="none" strike="noStrike">
                <a:solidFill>
                  <a:schemeClr val="lt1"/>
                </a:solidFill>
                <a:effectLst/>
                <a:uFillTx/>
                <a:latin typeface="Arial"/>
              </a:rPr>
              <a:t>Second Outline Level</a:t>
            </a:r>
            <a:endParaRPr lang="hu-HU" sz="2800" b="0" u="none" strike="noStrike">
              <a:solidFill>
                <a:schemeClr val="lt1"/>
              </a:solidFill>
              <a:effectLst/>
              <a:uFillTx/>
              <a:latin typeface="Arial"/>
            </a:endParaRPr>
          </a:p>
          <a:p>
            <a:pPr marL="1296000" lvl="2" indent="-288000" algn="l" defTabSz="914400">
              <a:lnSpc>
                <a:spcPts val="601"/>
              </a:lnSpc>
              <a:spcBef>
                <a:spcPts val="850"/>
              </a:spcBef>
              <a:buClr>
                <a:srgbClr val="FFFFFF"/>
              </a:buClr>
              <a:buSzPct val="45000"/>
              <a:buFont typeface="Wingdings" charset="2"/>
              <a:buChar char=""/>
              <a:tabLst>
                <a:tab pos="0" algn="l"/>
              </a:tabLst>
            </a:pPr>
            <a:r>
              <a:rPr lang="hu-HU" sz="2400" b="0" u="none" strike="noStrike">
                <a:solidFill>
                  <a:schemeClr val="lt1"/>
                </a:solidFill>
                <a:effectLst/>
                <a:uFillTx/>
                <a:latin typeface="Arial"/>
              </a:rPr>
              <a:t>Third Outline Level</a:t>
            </a:r>
            <a:endParaRPr lang="hu-HU" sz="2400" b="0" u="none" strike="noStrike">
              <a:solidFill>
                <a:schemeClr val="lt1"/>
              </a:solidFill>
              <a:effectLst/>
              <a:uFillTx/>
              <a:latin typeface="Arial"/>
            </a:endParaRPr>
          </a:p>
          <a:p>
            <a:pPr marL="1728000" lvl="3" indent="-216000" algn="l" defTabSz="914400">
              <a:lnSpc>
                <a:spcPts val="601"/>
              </a:lnSpc>
              <a:spcBef>
                <a:spcPts val="567"/>
              </a:spcBef>
              <a:buClr>
                <a:srgbClr val="FFFFFF"/>
              </a:buClr>
              <a:buSzPct val="75000"/>
              <a:buFont typeface="Symbol" charset="2"/>
              <a:buChar char=""/>
              <a:tabLst>
                <a:tab pos="0" algn="l"/>
              </a:tabLst>
            </a:pPr>
            <a:r>
              <a:rPr lang="hu-HU" sz="2000" b="0" u="none" strike="noStrike">
                <a:solidFill>
                  <a:schemeClr val="lt1"/>
                </a:solidFill>
                <a:effectLst/>
                <a:uFillTx/>
                <a:latin typeface="Arial"/>
              </a:rPr>
              <a:t>Fourth Outline Level</a:t>
            </a:r>
            <a:endParaRPr lang="hu-HU" sz="2000" b="0" u="none" strike="noStrike">
              <a:solidFill>
                <a:schemeClr val="lt1"/>
              </a:solidFill>
              <a:effectLst/>
              <a:uFillTx/>
              <a:latin typeface="Arial"/>
            </a:endParaRPr>
          </a:p>
          <a:p>
            <a:pPr marL="2160000" lvl="4"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Fifth Outline Level</a:t>
            </a:r>
            <a:endParaRPr lang="hu-HU" sz="2000" b="0" u="none" strike="noStrike">
              <a:solidFill>
                <a:schemeClr val="lt1"/>
              </a:solidFill>
              <a:effectLst/>
              <a:uFillTx/>
              <a:latin typeface="Arial"/>
            </a:endParaRPr>
          </a:p>
          <a:p>
            <a:pPr marL="2592000" lvl="5"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Sixth Outline Level</a:t>
            </a:r>
            <a:endParaRPr lang="hu-HU" sz="2000" b="0" u="none" strike="noStrike">
              <a:solidFill>
                <a:schemeClr val="lt1"/>
              </a:solidFill>
              <a:effectLst/>
              <a:uFillTx/>
              <a:latin typeface="Arial"/>
            </a:endParaRPr>
          </a:p>
          <a:p>
            <a:pPr marL="3024000" lvl="6"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Seventh Outline Level</a:t>
            </a:r>
            <a:endParaRPr lang="hu-HU" sz="2000" b="0" u="none" strike="noStrike">
              <a:solidFill>
                <a:schemeClr val="lt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11"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nvGrpSpPr>
          <p:cNvPr id="12" name="Csoportba foglalás 4"/>
          <p:cNvGrpSpPr/>
          <p:nvPr/>
        </p:nvGrpSpPr>
        <p:grpSpPr>
          <a:xfrm>
            <a:off x="6389640" y="308160"/>
            <a:ext cx="5391000" cy="6180840"/>
            <a:chOff x="6389640" y="308160"/>
            <a:chExt cx="5391000" cy="6180840"/>
          </a:xfrm>
        </p:grpSpPr>
        <p:sp>
          <p:nvSpPr>
            <p:cNvPr id="13" name="Téglalap 5"/>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4" name="Szalagív 7"/>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pic>
        <p:nvPicPr>
          <p:cNvPr id="15" name="Kép 8"/>
          <p:cNvPicPr/>
          <p:nvPr/>
        </p:nvPicPr>
        <p:blipFill>
          <a:blip r:embed="rId2"/>
          <a:stretch/>
        </p:blipFill>
        <p:spPr>
          <a:xfrm>
            <a:off x="370440" y="6153120"/>
            <a:ext cx="1063800" cy="356040"/>
          </a:xfrm>
          <a:prstGeom prst="rect">
            <a:avLst/>
          </a:prstGeom>
          <a:noFill/>
          <a:ln w="0">
            <a:noFill/>
          </a:ln>
        </p:spPr>
      </p:pic>
      <p:sp>
        <p:nvSpPr>
          <p:cNvPr id="16" name="PlaceHolder 1"/>
          <p:cNvSpPr>
            <a:spLocks noGrp="1"/>
          </p:cNvSpPr>
          <p:nvPr>
            <p:ph type="sldNum" idx="2"/>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8153D731-55C5-4A80-91EF-D997066740F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1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1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6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3200" b="0" u="none" strike="noStrike">
                <a:solidFill>
                  <a:schemeClr val="dk1"/>
                </a:solidFill>
                <a:effectLst/>
                <a:uFillTx/>
                <a:latin typeface="Arial"/>
              </a:rPr>
              <a:t>Fourth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Fifth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Sixth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Seventh </a:t>
            </a:r>
            <a:r>
              <a:rPr lang="hu-HU" sz="3200" b="0" u="none" strike="noStrike">
                <a:solidFill>
                  <a:schemeClr val="dk1"/>
                </a:solidFill>
                <a:effectLst/>
                <a:uFillTx/>
                <a:latin typeface="Arial"/>
              </a:rPr>
              <a:t>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19" name="Szalagív 13"/>
          <p:cNvSpPr/>
          <p:nvPr/>
        </p:nvSpPr>
        <p:spPr>
          <a:xfrm>
            <a:off x="40032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20" name="Kép 2"/>
          <p:cNvPicPr/>
          <p:nvPr/>
        </p:nvPicPr>
        <p:blipFill>
          <a:blip r:embed="rId2"/>
          <a:stretch/>
        </p:blipFill>
        <p:spPr>
          <a:xfrm>
            <a:off x="374040" y="604800"/>
            <a:ext cx="1666800" cy="558000"/>
          </a:xfrm>
          <a:prstGeom prst="rect">
            <a:avLst/>
          </a:prstGeom>
          <a:noFill/>
          <a:ln w="0">
            <a:noFill/>
          </a:ln>
        </p:spPr>
      </p:pic>
      <p:sp>
        <p:nvSpPr>
          <p:cNvPr id="21" name="PlaceHolder 1"/>
          <p:cNvSpPr>
            <a:spLocks noGrp="1"/>
          </p:cNvSpPr>
          <p:nvPr>
            <p:ph type="sldNum" idx="3"/>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43C3F6F4-EFB2-4541-B8E8-8EA164F0F817}" type="slidenum">
              <a:rPr lang="hu-HU" sz="1200" b="0" u="none" strike="noStrike">
                <a:solidFill>
                  <a:schemeClr val="lt1"/>
                </a:solidFill>
                <a:effectLst/>
                <a:uFillTx/>
                <a:latin typeface="Arial"/>
              </a:rPr>
              <a:t>1</a:t>
            </a:fld>
            <a:endParaRPr lang="en-US" sz="1200" b="0" u="none" strike="noStrike">
              <a:solidFill>
                <a:srgbClr val="FFFFFF"/>
              </a:solidFill>
              <a:effectLst/>
              <a:uFillTx/>
              <a:latin typeface="Times New Roman"/>
            </a:endParaRPr>
          </a:p>
        </p:txBody>
      </p:sp>
      <p:sp>
        <p:nvSpPr>
          <p:cNvPr id="2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2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800" b="0" u="none" strike="noStrike">
                <a:solidFill>
                  <a:schemeClr val="lt1"/>
                </a:solidFill>
                <a:effectLst/>
                <a:uFillTx/>
                <a:latin typeface="Arial"/>
              </a:defRPr>
            </a:lvl1pPr>
            <a:lvl2pPr lvl="1" algn="l" defTabSz="914400">
              <a:lnSpc>
                <a:spcPct val="90000"/>
              </a:lnSpc>
              <a:spcBef>
                <a:spcPts val="1134"/>
              </a:spcBef>
              <a:buClr>
                <a:srgbClr val="FFFFFF"/>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FFFFFF"/>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800" b="0" u="none" strike="noStrike">
                <a:solidFill>
                  <a:schemeClr val="lt1"/>
                </a:solidFill>
                <a:effectLst/>
                <a:uFillTx/>
                <a:latin typeface="Arial"/>
              </a:rPr>
              <a:t>Click to edit the outline text format</a:t>
            </a:r>
            <a:endParaRPr lang="hu-HU" sz="1800" b="0" u="none" strike="noStrike">
              <a:solidFill>
                <a:schemeClr val="lt1"/>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3"/>
    <p:sldLayoutId id="2147483654"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26"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27" name="Lekerekített téglalap 8"/>
          <p:cNvSpPr/>
          <p:nvPr/>
        </p:nvSpPr>
        <p:spPr>
          <a:xfrm>
            <a:off x="3672000" y="829080"/>
            <a:ext cx="2601720" cy="4746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8" name="Lekerekített téglalap 9"/>
          <p:cNvSpPr/>
          <p:nvPr/>
        </p:nvSpPr>
        <p:spPr>
          <a:xfrm>
            <a:off x="64357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9" name="Lekerekített téglalap 10"/>
          <p:cNvSpPr/>
          <p:nvPr/>
        </p:nvSpPr>
        <p:spPr>
          <a:xfrm>
            <a:off x="91699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0" name="Kép 12"/>
          <p:cNvPicPr/>
          <p:nvPr/>
        </p:nvPicPr>
        <p:blipFill>
          <a:blip r:embed="rId2"/>
          <a:stretch/>
        </p:blipFill>
        <p:spPr>
          <a:xfrm>
            <a:off x="370440" y="6153120"/>
            <a:ext cx="1063800" cy="356040"/>
          </a:xfrm>
          <a:prstGeom prst="rect">
            <a:avLst/>
          </a:prstGeom>
          <a:noFill/>
          <a:ln w="0">
            <a:noFill/>
          </a:ln>
        </p:spPr>
      </p:pic>
      <p:sp>
        <p:nvSpPr>
          <p:cNvPr id="31" name="PlaceHolder 1"/>
          <p:cNvSpPr>
            <a:spLocks noGrp="1"/>
          </p:cNvSpPr>
          <p:nvPr>
            <p:ph type="sldNum" idx="4"/>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60791B47-E83E-4088-9055-1AC96954ADB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3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3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tabLst>
                <a:tab pos="0" algn="l"/>
              </a:tabLst>
              <a:defRPr lang="hu-HU" sz="16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16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16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324000" algn="l" defTabSz="914400">
              <a:lnSpc>
                <a:spcPct val="90000"/>
              </a:lnSpc>
              <a:spcBef>
                <a:spcPts val="1001"/>
              </a:spcBef>
              <a:buClr>
                <a:srgbClr val="000000"/>
              </a:buClr>
              <a:buFont typeface="Arial"/>
              <a:buChar char="•"/>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1600" b="0" u="none" strike="noStrike">
                <a:solidFill>
                  <a:schemeClr val="dk1"/>
                </a:solidFill>
                <a:effectLst/>
                <a:uFillTx/>
                <a:latin typeface="Arial"/>
              </a:rPr>
              <a:t>Second Outline Level</a:t>
            </a:r>
            <a:endParaRPr lang="hu-HU" sz="16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1600" b="0" u="none" strike="noStrike">
                <a:solidFill>
                  <a:schemeClr val="dk1"/>
                </a:solidFill>
                <a:effectLst/>
                <a:uFillTx/>
                <a:latin typeface="Arial"/>
              </a:rPr>
              <a:t>Third Outline Level</a:t>
            </a:r>
            <a:endParaRPr lang="hu-HU" sz="16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6"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34"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35" name="Lekerekített téglalap 8"/>
          <p:cNvSpPr/>
          <p:nvPr/>
        </p:nvSpPr>
        <p:spPr>
          <a:xfrm>
            <a:off x="3672000" y="2143080"/>
            <a:ext cx="2601720" cy="3432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6" name="Lekerekített téglalap 9"/>
          <p:cNvSpPr/>
          <p:nvPr/>
        </p:nvSpPr>
        <p:spPr>
          <a:xfrm>
            <a:off x="64357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7" name="Lekerekített téglalap 10"/>
          <p:cNvSpPr/>
          <p:nvPr/>
        </p:nvSpPr>
        <p:spPr>
          <a:xfrm>
            <a:off x="91699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8" name="Kép 2"/>
          <p:cNvPicPr/>
          <p:nvPr/>
        </p:nvPicPr>
        <p:blipFill>
          <a:blip r:embed="rId2"/>
          <a:stretch/>
        </p:blipFill>
        <p:spPr>
          <a:xfrm>
            <a:off x="370440" y="6153120"/>
            <a:ext cx="1063800" cy="356040"/>
          </a:xfrm>
          <a:prstGeom prst="rect">
            <a:avLst/>
          </a:prstGeom>
          <a:noFill/>
          <a:ln w="0">
            <a:noFill/>
          </a:ln>
        </p:spPr>
      </p:pic>
      <p:sp>
        <p:nvSpPr>
          <p:cNvPr id="39" name="PlaceHolder 1"/>
          <p:cNvSpPr>
            <a:spLocks noGrp="1"/>
          </p:cNvSpPr>
          <p:nvPr>
            <p:ph type="sldNum" idx="5"/>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F4C33459-D55A-4AC3-9A57-43F7C800ADB9}"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40"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1"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32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3200" b="0" u="none" strike="noStrike">
                <a:solidFill>
                  <a:schemeClr val="dk1"/>
                </a:solidFill>
                <a:effectLst/>
                <a:uFillTx/>
                <a:latin typeface="Arial"/>
              </a:rPr>
              <a:t>Click to edit the outline text format</a:t>
            </a:r>
            <a:endParaRPr lang="hu-HU" sz="32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8"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42"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43" name="Kép 4"/>
          <p:cNvPicPr/>
          <p:nvPr/>
        </p:nvPicPr>
        <p:blipFill>
          <a:blip r:embed="rId2"/>
          <a:stretch/>
        </p:blipFill>
        <p:spPr>
          <a:xfrm>
            <a:off x="370440" y="6153120"/>
            <a:ext cx="1063800" cy="356040"/>
          </a:xfrm>
          <a:prstGeom prst="rect">
            <a:avLst/>
          </a:prstGeom>
          <a:noFill/>
          <a:ln w="0">
            <a:noFill/>
          </a:ln>
        </p:spPr>
      </p:pic>
      <p:sp>
        <p:nvSpPr>
          <p:cNvPr id="4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tabLst>
                <a:tab pos="0" algn="l"/>
              </a:tabLst>
              <a:defRPr lang="hu-HU" sz="18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tabLst>
                <a:tab pos="0" algn="l"/>
              </a:tabLst>
            </a:pPr>
            <a:r>
              <a:rPr lang="hu-HU" sz="1800" b="0" u="none" strike="noStrike">
                <a:solidFill>
                  <a:schemeClr val="dk1"/>
                </a:solidFill>
                <a:effectLst/>
                <a:uFillTx/>
                <a:latin typeface="Arial"/>
              </a:rPr>
              <a:t>Click to edit the outline text format</a:t>
            </a:r>
            <a:endParaRPr lang="hu-HU" sz="18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6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6365880" y="3390120"/>
            <a:ext cx="5388480" cy="724320"/>
          </a:xfrm>
          <a:prstGeom prst="rect">
            <a:avLst/>
          </a:prstGeom>
          <a:noFill/>
          <a:ln w="0">
            <a:noFill/>
          </a:ln>
        </p:spPr>
        <p:txBody>
          <a:bodyPr lIns="91440" tIns="45720" rIns="91440" bIns="45720" anchor="t">
            <a:noAutofit/>
          </a:bodyPr>
          <a:p>
            <a:pPr indent="0" algn="l" defTabSz="914400">
              <a:lnSpc>
                <a:spcPct val="100000"/>
              </a:lnSpc>
              <a:buNone/>
              <a:tabLst>
                <a:tab pos="0" algn="l"/>
              </a:tabLst>
            </a:pPr>
            <a:r>
              <a:rPr lang="hu-HU" sz="2600" b="1" u="none" strike="noStrike">
                <a:solidFill>
                  <a:schemeClr val="lt1"/>
                </a:solidFill>
                <a:effectLst/>
                <a:uFillTx/>
                <a:latin typeface="Arial"/>
              </a:rPr>
              <a:t>Customer support chatbot</a:t>
            </a:r>
            <a:endParaRPr lang="hu-HU" sz="2600" b="0" u="none" strike="noStrike">
              <a:solidFill>
                <a:schemeClr val="lt1"/>
              </a:solidFill>
              <a:effectLst/>
              <a:uFillTx/>
              <a:latin typeface="Georgia"/>
            </a:endParaRPr>
          </a:p>
        </p:txBody>
      </p:sp>
      <p:sp>
        <p:nvSpPr>
          <p:cNvPr id="53" name="PlaceHolder 2"/>
          <p:cNvSpPr>
            <a:spLocks noGrp="1"/>
          </p:cNvSpPr>
          <p:nvPr>
            <p:ph/>
          </p:nvPr>
        </p:nvSpPr>
        <p:spPr>
          <a:xfrm>
            <a:off x="6365880" y="4142880"/>
            <a:ext cx="5388480" cy="654840"/>
          </a:xfrm>
          <a:prstGeom prst="rect">
            <a:avLst/>
          </a:prstGeom>
          <a:noFill/>
          <a:ln w="0">
            <a:noFill/>
          </a:ln>
        </p:spPr>
        <p:txBody>
          <a:bodyPr lIns="91440" tIns="45720" rIns="91440" bIns="45720" anchor="t">
            <a:noAutofit/>
          </a:bodyPr>
          <a:p>
            <a:pPr indent="0" algn="l" defTabSz="914400">
              <a:lnSpc>
                <a:spcPct val="100000"/>
              </a:lnSpc>
              <a:spcBef>
                <a:spcPts val="1001"/>
              </a:spcBef>
              <a:buNone/>
              <a:tabLst>
                <a:tab pos="0" algn="l"/>
              </a:tabLst>
            </a:pPr>
            <a:r>
              <a:rPr lang="hu-HU" sz="1600" b="0" u="none" strike="noStrike">
                <a:solidFill>
                  <a:schemeClr val="lt1"/>
                </a:solidFill>
                <a:effectLst/>
                <a:uFillTx/>
                <a:latin typeface="Arial"/>
              </a:rPr>
              <a:t>Operation of Large Language Models</a:t>
            </a:r>
            <a:endParaRPr lang="hu-HU" sz="1600" b="0" u="none" strike="noStrike">
              <a:solidFill>
                <a:schemeClr val="lt1"/>
              </a:solidFill>
              <a:effectLst/>
              <a:uFillTx/>
              <a:latin typeface="Arial"/>
            </a:endParaRPr>
          </a:p>
        </p:txBody>
      </p:sp>
      <p:sp>
        <p:nvSpPr>
          <p:cNvPr id="54" name="TextBox 5"/>
          <p:cNvSpPr/>
          <p:nvPr/>
        </p:nvSpPr>
        <p:spPr>
          <a:xfrm>
            <a:off x="631080" y="1463040"/>
            <a:ext cx="6619680" cy="1554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5100" b="1" u="none" strike="noStrike">
                <a:solidFill>
                  <a:srgbClr val="FFFFFF"/>
                </a:solidFill>
                <a:effectLst/>
                <a:uFillTx/>
                <a:latin typeface="Arial"/>
                <a:ea typeface="DejaVu Sans"/>
              </a:rPr>
              <a:t>Cairnly</a:t>
            </a:r>
            <a:endParaRPr lang="en-US" sz="5100" b="0" u="none" strike="noStrike">
              <a:solidFill>
                <a:srgbClr val="FFFFFF"/>
              </a:solidFill>
              <a:effectLst/>
              <a:uFillTx/>
              <a:latin typeface="Arial"/>
            </a:endParaRPr>
          </a:p>
          <a:p>
            <a:pPr defTabSz="914400">
              <a:lnSpc>
                <a:spcPct val="100000"/>
              </a:lnSpc>
            </a:pPr>
            <a:r>
              <a:rPr lang="hu-HU" sz="5100" b="1" u="none" strike="noStrike">
                <a:solidFill>
                  <a:srgbClr val="FFFFFF"/>
                </a:solidFill>
                <a:effectLst/>
                <a:uFillTx/>
                <a:latin typeface="Arial"/>
                <a:ea typeface="DejaVu Sans"/>
              </a:rPr>
              <a:t>Assistant</a:t>
            </a:r>
            <a:endParaRPr lang="en-US" sz="5100" b="0" u="none" strike="noStrike">
              <a:solidFill>
                <a:srgbClr val="FFFFFF"/>
              </a:solidFill>
              <a:effectLst/>
              <a:uFillTx/>
              <a:latin typeface="Arial"/>
            </a:endParaRPr>
          </a:p>
        </p:txBody>
      </p:sp>
      <p:sp>
        <p:nvSpPr>
          <p:cNvPr id="55" name="Rectangle 6"/>
          <p:cNvSpPr/>
          <p:nvPr/>
        </p:nvSpPr>
        <p:spPr>
          <a:xfrm>
            <a:off x="676800" y="3227760"/>
            <a:ext cx="986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56" name="TextBox 7"/>
          <p:cNvSpPr/>
          <p:nvPr/>
        </p:nvSpPr>
        <p:spPr>
          <a:xfrm>
            <a:off x="667440" y="5121720"/>
            <a:ext cx="6857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3E31"/>
                </a:solidFill>
                <a:effectLst/>
                <a:uFillTx/>
                <a:latin typeface="Arial"/>
                <a:ea typeface="DejaVu Sans"/>
              </a:rPr>
              <a:t>PROJECT 1  /  GROUP A</a:t>
            </a:r>
            <a:endParaRPr lang="en-US" sz="1800" b="0" u="none" strike="noStrike">
              <a:solidFill>
                <a:srgbClr val="FFFFFF"/>
              </a:solidFill>
              <a:effectLst/>
              <a:uFillTx/>
              <a:latin typeface="Arial"/>
            </a:endParaRPr>
          </a:p>
        </p:txBody>
      </p:sp>
      <p:sp>
        <p:nvSpPr>
          <p:cNvPr id="57" name="TextBox 8"/>
          <p:cNvSpPr/>
          <p:nvPr/>
        </p:nvSpPr>
        <p:spPr>
          <a:xfrm>
            <a:off x="667440" y="3959280"/>
            <a:ext cx="7588800" cy="49320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8" name="TextBox 9"/>
          <p:cNvSpPr/>
          <p:nvPr/>
        </p:nvSpPr>
        <p:spPr>
          <a:xfrm>
            <a:off x="667440" y="4535280"/>
            <a:ext cx="8320320" cy="24372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9" name="TextBox 11"/>
          <p:cNvSpPr/>
          <p:nvPr/>
        </p:nvSpPr>
        <p:spPr>
          <a:xfrm>
            <a:off x="667440" y="5422320"/>
            <a:ext cx="80460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spcBef>
                <a:spcPts val="1191"/>
              </a:spcBef>
              <a:spcAft>
                <a:spcPts val="992"/>
              </a:spcAft>
            </a:pPr>
            <a:r>
              <a:rPr lang="hu-HU" sz="1700" b="0" u="none" strike="noStrike">
                <a:solidFill>
                  <a:srgbClr val="FFFFFF"/>
                </a:solidFill>
                <a:effectLst/>
                <a:uFillTx/>
                <a:latin typeface="Arial"/>
                <a:ea typeface="DejaVu Sans"/>
              </a:rPr>
              <a:t>Péter Palotai, András Biró, Mariam Makhniashvili, Bálint Biricz</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p:nvPr>
        </p:nvSpPr>
        <p:spPr>
          <a:xfrm>
            <a:off x="261000" y="686520"/>
            <a:ext cx="2712960" cy="181152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1" name="PlaceHolder 2"/>
          <p:cNvSpPr>
            <a:spLocks noGrp="1"/>
          </p:cNvSpPr>
          <p:nvPr>
            <p:ph/>
          </p:nvPr>
        </p:nvSpPr>
        <p:spPr>
          <a:xfrm>
            <a:off x="280080" y="2780280"/>
            <a:ext cx="2693880" cy="281844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2" name="TextBox 8"/>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Problem, scope and knowledge sources</a:t>
            </a:r>
            <a:endParaRPr lang="en-US" sz="3400" b="0" u="none" strike="noStrike">
              <a:solidFill>
                <a:srgbClr val="000000"/>
              </a:solidFill>
              <a:effectLst/>
              <a:uFillTx/>
              <a:latin typeface="Arial"/>
            </a:endParaRPr>
          </a:p>
        </p:txBody>
      </p:sp>
      <p:sp>
        <p:nvSpPr>
          <p:cNvPr id="63" name="Rectangle 9"/>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64" name="TextBox 10"/>
          <p:cNvSpPr/>
          <p:nvPr/>
        </p:nvSpPr>
        <p:spPr>
          <a:xfrm>
            <a:off x="621720" y="1353240"/>
            <a:ext cx="10926360" cy="5788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6F4642"/>
                </a:solidFill>
                <a:effectLst/>
                <a:uFillTx/>
                <a:latin typeface="Arial"/>
                <a:ea typeface="DejaVu Sans"/>
              </a:rPr>
              <a:t>Cairnly Outdoor is a fictional EU outdoor-gear shop. We built a working prototype for recurring support questions.</a:t>
            </a:r>
            <a:endParaRPr lang="en-US" sz="1900" b="0" u="none" strike="noStrike">
              <a:solidFill>
                <a:srgbClr val="000000"/>
              </a:solidFill>
              <a:effectLst/>
              <a:uFillTx/>
              <a:latin typeface="Arial"/>
            </a:endParaRPr>
          </a:p>
        </p:txBody>
      </p:sp>
      <p:sp>
        <p:nvSpPr>
          <p:cNvPr id="65" name="Rounded Rectangle 11"/>
          <p:cNvSpPr/>
          <p:nvPr/>
        </p:nvSpPr>
        <p:spPr>
          <a:xfrm>
            <a:off x="5943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6" name="TextBox 12"/>
          <p:cNvSpPr/>
          <p:nvPr/>
        </p:nvSpPr>
        <p:spPr>
          <a:xfrm>
            <a:off x="8319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Customer requests</a:t>
            </a:r>
            <a:endParaRPr lang="en-US" sz="2100" b="0" u="none" strike="noStrike">
              <a:solidFill>
                <a:srgbClr val="000000"/>
              </a:solidFill>
              <a:effectLst/>
              <a:uFillTx/>
              <a:latin typeface="Arial"/>
            </a:endParaRPr>
          </a:p>
        </p:txBody>
      </p:sp>
      <p:sp>
        <p:nvSpPr>
          <p:cNvPr id="67" name="TextBox 13"/>
          <p:cNvSpPr/>
          <p:nvPr/>
        </p:nvSpPr>
        <p:spPr>
          <a:xfrm>
            <a:off x="831960" y="2907720"/>
            <a:ext cx="3016800" cy="1645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Shipping, returns and warranty</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“Where is my order?”</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Questions with exceptions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Category (7) and urgency classification</a:t>
            </a:r>
            <a:endParaRPr lang="en-US" sz="1800" b="0" u="none" strike="noStrike">
              <a:solidFill>
                <a:srgbClr val="000000"/>
              </a:solidFill>
              <a:effectLst/>
              <a:uFillTx/>
              <a:latin typeface="Arial"/>
            </a:endParaRPr>
          </a:p>
        </p:txBody>
      </p:sp>
      <p:sp>
        <p:nvSpPr>
          <p:cNvPr id="68" name="Rounded Rectangle 14"/>
          <p:cNvSpPr/>
          <p:nvPr/>
        </p:nvSpPr>
        <p:spPr>
          <a:xfrm>
            <a:off x="43617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9" name="TextBox 15"/>
          <p:cNvSpPr/>
          <p:nvPr/>
        </p:nvSpPr>
        <p:spPr>
          <a:xfrm>
            <a:off x="45993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Simulated knowledge</a:t>
            </a:r>
            <a:endParaRPr lang="en-US" sz="2100" b="0" u="none" strike="noStrike">
              <a:solidFill>
                <a:srgbClr val="000000"/>
              </a:solidFill>
              <a:effectLst/>
              <a:uFillTx/>
              <a:latin typeface="Arial"/>
            </a:endParaRPr>
          </a:p>
        </p:txBody>
      </p:sp>
      <p:sp>
        <p:nvSpPr>
          <p:cNvPr id="70" name="TextBox 16"/>
          <p:cNvSpPr/>
          <p:nvPr/>
        </p:nvSpPr>
        <p:spPr>
          <a:xfrm>
            <a:off x="4599360" y="2907720"/>
            <a:ext cx="301680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25 Help Centre documents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5 invented orders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Read-only SQLite database</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Rebuilt by data/create_db.py</a:t>
            </a:r>
            <a:endParaRPr lang="en-US" sz="1800" b="0" u="none" strike="noStrike">
              <a:solidFill>
                <a:srgbClr val="000000"/>
              </a:solidFill>
              <a:effectLst/>
              <a:uFillTx/>
              <a:latin typeface="Arial"/>
            </a:endParaRPr>
          </a:p>
        </p:txBody>
      </p:sp>
      <p:sp>
        <p:nvSpPr>
          <p:cNvPr id="71" name="Rounded Rectangle 17"/>
          <p:cNvSpPr/>
          <p:nvPr/>
        </p:nvSpPr>
        <p:spPr>
          <a:xfrm>
            <a:off x="81291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72" name="TextBox 18"/>
          <p:cNvSpPr/>
          <p:nvPr/>
        </p:nvSpPr>
        <p:spPr>
          <a:xfrm>
            <a:off x="83667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Project boundaries</a:t>
            </a:r>
            <a:endParaRPr lang="en-US" sz="2100" b="0" u="none" strike="noStrike">
              <a:solidFill>
                <a:srgbClr val="000000"/>
              </a:solidFill>
              <a:effectLst/>
              <a:uFillTx/>
              <a:latin typeface="Arial"/>
            </a:endParaRPr>
          </a:p>
        </p:txBody>
      </p:sp>
      <p:sp>
        <p:nvSpPr>
          <p:cNvPr id="73" name="TextBox 19"/>
          <p:cNvSpPr/>
          <p:nvPr/>
        </p:nvSpPr>
        <p:spPr>
          <a:xfrm>
            <a:off x="8366760" y="2907720"/>
            <a:ext cx="3016800" cy="2194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Answer only from supplied data</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Decline unsupported requests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Never handle payment cards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No real personal or order data</a:t>
            </a:r>
            <a:endParaRPr lang="en-US" sz="1800" b="0" u="none" strike="noStrike">
              <a:solidFill>
                <a:srgbClr val="000000"/>
              </a:solidFill>
              <a:effectLst/>
              <a:uFillTx/>
              <a:latin typeface="Arial"/>
            </a:endParaRPr>
          </a:p>
        </p:txBody>
      </p:sp>
      <p:sp>
        <p:nvSpPr>
          <p:cNvPr id="74" name="Rectangle 20"/>
          <p:cNvSpPr/>
          <p:nvPr/>
        </p:nvSpPr>
        <p:spPr>
          <a:xfrm>
            <a:off x="649080" y="5568840"/>
            <a:ext cx="10880640" cy="24840"/>
          </a:xfrm>
          <a:prstGeom prst="rect">
            <a:avLst/>
          </a:prstGeom>
          <a:solidFill>
            <a:srgbClr val="FF3E31"/>
          </a:solidFill>
          <a:ln w="6480">
            <a:noFill/>
          </a:ln>
        </p:spPr>
        <p:style>
          <a:lnRef idx="0"/>
          <a:fillRef idx="0"/>
          <a:effectRef idx="0"/>
          <a:fontRef idx="minor"/>
        </p:style>
        <p:txBody>
          <a:bodyPr lIns="90000" tIns="-19440" rIns="90000" bIns="-19440" anchor="ctr">
            <a:noAutofit/>
          </a:bodyPr>
          <a:p>
            <a:endParaRPr lang="hu-HU" sz="1800" b="0" u="none" strike="noStrike">
              <a:solidFill>
                <a:schemeClr val="lt1"/>
              </a:solidFill>
              <a:effectLst/>
              <a:uFillTx/>
              <a:latin typeface="Arial"/>
            </a:endParaRPr>
          </a:p>
        </p:txBody>
      </p:sp>
      <p:sp>
        <p:nvSpPr>
          <p:cNvPr id="75" name="TextBox 21"/>
          <p:cNvSpPr/>
          <p:nvPr/>
        </p:nvSpPr>
        <p:spPr>
          <a:xfrm>
            <a:off x="658440" y="5660280"/>
            <a:ext cx="1060632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Evidence basis: synthetic policies include 30-day returns, warranty rules and non-returnable / restricted goods.</a:t>
            </a:r>
            <a:endParaRPr lang="en-US" sz="1600" b="0" u="none" strike="noStrike">
              <a:solidFill>
                <a:srgbClr val="000000"/>
              </a:solidFill>
              <a:effectLst/>
              <a:uFillTx/>
              <a:latin typeface="Arial"/>
            </a:endParaRPr>
          </a:p>
        </p:txBody>
      </p:sp>
      <p:sp>
        <p:nvSpPr>
          <p:cNvPr id="76"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2</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261000" y="686520"/>
            <a:ext cx="465804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600" b="0" u="none" strike="noStrike">
              <a:solidFill>
                <a:schemeClr val="dk1"/>
              </a:solidFill>
              <a:effectLst/>
              <a:uFillTx/>
              <a:latin typeface="Arial"/>
            </a:endParaRPr>
          </a:p>
        </p:txBody>
      </p:sp>
      <p:sp>
        <p:nvSpPr>
          <p:cNvPr id="78" name="TextBox 5"/>
          <p:cNvSpPr/>
          <p:nvPr/>
        </p:nvSpPr>
        <p:spPr>
          <a:xfrm>
            <a:off x="612720" y="493920"/>
            <a:ext cx="6171480" cy="5335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Impleme</a:t>
            </a:r>
            <a:r>
              <a:rPr lang="hu-HU" sz="3500" b="1" u="none" strike="noStrike">
                <a:solidFill>
                  <a:srgbClr val="221818"/>
                </a:solidFill>
                <a:effectLst/>
                <a:uFillTx/>
                <a:latin typeface="Arial"/>
                <a:ea typeface="DejaVu Sans"/>
              </a:rPr>
              <a:t>nted </a:t>
            </a:r>
            <a:r>
              <a:rPr lang="hu-HU" sz="3500" b="1" u="none" strike="noStrike">
                <a:solidFill>
                  <a:srgbClr val="221818"/>
                </a:solidFill>
                <a:effectLst/>
                <a:uFillTx/>
                <a:latin typeface="Arial"/>
                <a:ea typeface="DejaVu Sans"/>
              </a:rPr>
              <a:t>LLM </a:t>
            </a:r>
            <a:r>
              <a:rPr lang="hu-HU" sz="3500" b="1" u="none" strike="noStrike">
                <a:solidFill>
                  <a:srgbClr val="221818"/>
                </a:solidFill>
                <a:effectLst/>
                <a:uFillTx/>
                <a:latin typeface="Arial"/>
                <a:ea typeface="DejaVu Sans"/>
              </a:rPr>
              <a:t>workflow</a:t>
            </a:r>
            <a:endParaRPr lang="en-US" sz="3500" b="0" u="none" strike="noStrike">
              <a:solidFill>
                <a:srgbClr val="000000"/>
              </a:solidFill>
              <a:effectLst/>
              <a:uFillTx/>
              <a:latin typeface="Arial"/>
            </a:endParaRPr>
          </a:p>
        </p:txBody>
      </p:sp>
      <p:sp>
        <p:nvSpPr>
          <p:cNvPr id="79" name="Rectangle 6"/>
          <p:cNvSpPr/>
          <p:nvPr/>
        </p:nvSpPr>
        <p:spPr>
          <a:xfrm>
            <a:off x="631080" y="1124640"/>
            <a:ext cx="977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80" name="TextBox 7"/>
          <p:cNvSpPr/>
          <p:nvPr/>
        </p:nvSpPr>
        <p:spPr>
          <a:xfrm>
            <a:off x="631080" y="1344240"/>
            <a:ext cx="589716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0" u="none" strike="noStrike">
                <a:solidFill>
                  <a:srgbClr val="6F4642"/>
                </a:solidFill>
                <a:effectLst/>
                <a:uFillTx/>
                <a:latin typeface="Arial"/>
                <a:ea typeface="DejaVu Sans"/>
              </a:rPr>
              <a:t>The demo and the evaluation use the same chatbot.py code.</a:t>
            </a:r>
            <a:endParaRPr lang="en-US" sz="2000" b="0" u="none" strike="noStrike">
              <a:solidFill>
                <a:srgbClr val="000000"/>
              </a:solidFill>
              <a:effectLst/>
              <a:uFillTx/>
              <a:latin typeface="Arial"/>
            </a:endParaRPr>
          </a:p>
        </p:txBody>
      </p:sp>
      <p:sp>
        <p:nvSpPr>
          <p:cNvPr id="81" name="Rounded Rectangle 8"/>
          <p:cNvSpPr/>
          <p:nvPr/>
        </p:nvSpPr>
        <p:spPr>
          <a:xfrm>
            <a:off x="5853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2" name="TextBox 9"/>
          <p:cNvSpPr/>
          <p:nvPr/>
        </p:nvSpPr>
        <p:spPr>
          <a:xfrm>
            <a:off x="7682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01  INPUT SAFETY</a:t>
            </a:r>
            <a:endParaRPr lang="en-US" sz="1600" b="0" u="none" strike="noStrike">
              <a:solidFill>
                <a:srgbClr val="000000"/>
              </a:solidFill>
              <a:effectLst/>
              <a:uFillTx/>
              <a:latin typeface="Arial"/>
            </a:endParaRPr>
          </a:p>
        </p:txBody>
      </p:sp>
      <p:sp>
        <p:nvSpPr>
          <p:cNvPr id="83" name="TextBox 10"/>
          <p:cNvSpPr/>
          <p:nvPr/>
        </p:nvSpPr>
        <p:spPr>
          <a:xfrm>
            <a:off x="7682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Mask card numbers, e-mails and phones; block known attack phrases.</a:t>
            </a:r>
            <a:endParaRPr lang="en-US" sz="1500" b="0" u="none" strike="noStrike">
              <a:solidFill>
                <a:srgbClr val="000000"/>
              </a:solidFill>
              <a:effectLst/>
              <a:uFillTx/>
              <a:latin typeface="Arial"/>
            </a:endParaRPr>
          </a:p>
        </p:txBody>
      </p:sp>
      <p:sp>
        <p:nvSpPr>
          <p:cNvPr id="84" name="TextBox 11"/>
          <p:cNvSpPr/>
          <p:nvPr/>
        </p:nvSpPr>
        <p:spPr>
          <a:xfrm>
            <a:off x="299016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5" name="Rounded Rectangle 12"/>
          <p:cNvSpPr/>
          <p:nvPr/>
        </p:nvSpPr>
        <p:spPr>
          <a:xfrm>
            <a:off x="348372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6" name="TextBox 13"/>
          <p:cNvSpPr/>
          <p:nvPr/>
        </p:nvSpPr>
        <p:spPr>
          <a:xfrm>
            <a:off x="366660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02  RAG SEARCH</a:t>
            </a:r>
            <a:endParaRPr lang="en-US" sz="1600" b="0" u="none" strike="noStrike">
              <a:solidFill>
                <a:srgbClr val="000000"/>
              </a:solidFill>
              <a:effectLst/>
              <a:uFillTx/>
              <a:latin typeface="Arial"/>
            </a:endParaRPr>
          </a:p>
        </p:txBody>
      </p:sp>
      <p:sp>
        <p:nvSpPr>
          <p:cNvPr id="87" name="TextBox 14"/>
          <p:cNvSpPr/>
          <p:nvPr/>
        </p:nvSpPr>
        <p:spPr>
          <a:xfrm>
            <a:off x="366660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Multilingual vectors retrieve the 3 closest Help Centre documents.</a:t>
            </a:r>
            <a:endParaRPr lang="en-US" sz="1500" b="0" u="none" strike="noStrike">
              <a:solidFill>
                <a:srgbClr val="000000"/>
              </a:solidFill>
              <a:effectLst/>
              <a:uFillTx/>
              <a:latin typeface="Arial"/>
            </a:endParaRPr>
          </a:p>
        </p:txBody>
      </p:sp>
      <p:sp>
        <p:nvSpPr>
          <p:cNvPr id="88" name="TextBox 15"/>
          <p:cNvSpPr/>
          <p:nvPr/>
        </p:nvSpPr>
        <p:spPr>
          <a:xfrm>
            <a:off x="588888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9" name="Rounded Rectangle 16"/>
          <p:cNvSpPr/>
          <p:nvPr/>
        </p:nvSpPr>
        <p:spPr>
          <a:xfrm>
            <a:off x="638244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0" name="TextBox 17"/>
          <p:cNvSpPr/>
          <p:nvPr/>
        </p:nvSpPr>
        <p:spPr>
          <a:xfrm>
            <a:off x="6565320" y="3310200"/>
            <a:ext cx="205740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03  ANSWER MODEL</a:t>
            </a:r>
            <a:endParaRPr lang="en-US" sz="1600" b="0" u="none" strike="noStrike">
              <a:solidFill>
                <a:srgbClr val="000000"/>
              </a:solidFill>
              <a:effectLst/>
              <a:uFillTx/>
              <a:latin typeface="Arial"/>
            </a:endParaRPr>
          </a:p>
        </p:txBody>
      </p:sp>
      <p:sp>
        <p:nvSpPr>
          <p:cNvPr id="91" name="TextBox 18"/>
          <p:cNvSpPr/>
          <p:nvPr/>
        </p:nvSpPr>
        <p:spPr>
          <a:xfrm>
            <a:off x="6565320" y="3913560"/>
            <a:ext cx="1965240" cy="6858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gpt-oss-120b on Groq; fixed grounded prompt; temperature 0.2.</a:t>
            </a:r>
            <a:endParaRPr lang="en-US" sz="1500" b="0" u="none" strike="noStrike">
              <a:solidFill>
                <a:srgbClr val="000000"/>
              </a:solidFill>
              <a:effectLst/>
              <a:uFillTx/>
              <a:latin typeface="Arial"/>
            </a:endParaRPr>
          </a:p>
        </p:txBody>
      </p:sp>
      <p:sp>
        <p:nvSpPr>
          <p:cNvPr id="92" name="TextBox 19"/>
          <p:cNvSpPr/>
          <p:nvPr/>
        </p:nvSpPr>
        <p:spPr>
          <a:xfrm>
            <a:off x="878724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93" name="Rounded Rectangle 20"/>
          <p:cNvSpPr/>
          <p:nvPr/>
        </p:nvSpPr>
        <p:spPr>
          <a:xfrm>
            <a:off x="92811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4" name="TextBox 21"/>
          <p:cNvSpPr/>
          <p:nvPr/>
        </p:nvSpPr>
        <p:spPr>
          <a:xfrm>
            <a:off x="94640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04  CHECK OUTPUT</a:t>
            </a:r>
            <a:endParaRPr lang="en-US" sz="1600" b="0" u="none" strike="noStrike">
              <a:solidFill>
                <a:srgbClr val="000000"/>
              </a:solidFill>
              <a:effectLst/>
              <a:uFillTx/>
              <a:latin typeface="Arial"/>
            </a:endParaRPr>
          </a:p>
        </p:txBody>
      </p:sp>
      <p:sp>
        <p:nvSpPr>
          <p:cNvPr id="95" name="TextBox 22"/>
          <p:cNvSpPr/>
          <p:nvPr/>
        </p:nvSpPr>
        <p:spPr>
          <a:xfrm>
            <a:off x="94640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Validate JSON: category, urgency, answer and sources; final safety filter.</a:t>
            </a:r>
            <a:endParaRPr lang="en-US" sz="1500" b="0" u="none" strike="noStrike">
              <a:solidFill>
                <a:srgbClr val="000000"/>
              </a:solidFill>
              <a:effectLst/>
              <a:uFillTx/>
              <a:latin typeface="Arial"/>
            </a:endParaRPr>
          </a:p>
        </p:txBody>
      </p:sp>
      <p:sp>
        <p:nvSpPr>
          <p:cNvPr id="96" name="TextBox 23"/>
          <p:cNvSpPr/>
          <p:nvPr/>
        </p:nvSpPr>
        <p:spPr>
          <a:xfrm>
            <a:off x="649080" y="5193792"/>
            <a:ext cx="107892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221818"/>
                </a:solidFill>
                <a:effectLst/>
                <a:uFillTx/>
                <a:latin typeface="Arial"/>
                <a:ea typeface="DejaVu Sans"/>
              </a:rPr>
              <a:t>Conditional tool: one fixed, read-only SQLite lookup by order number only (no e-mail needed, no writes).</a:t>
            </a:r>
            <a:endParaRPr lang="en-US" sz="1700" b="0" u="none" strike="noStrike">
              <a:solidFill>
                <a:srgbClr val="000000"/>
              </a:solidFill>
              <a:effectLst/>
              <a:uFillTx/>
              <a:latin typeface="Arial"/>
            </a:endParaRPr>
          </a:p>
        </p:txBody>
      </p:sp>
      <p:sp>
        <p:nvSpPr>
          <p:cNvPr id="97" name="TextBox 24"/>
          <p:cNvSpPr/>
          <p:nvPr/>
        </p:nvSpPr>
        <p:spPr>
          <a:xfrm>
            <a:off x="649080" y="5596128"/>
            <a:ext cx="10697760" cy="228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6F4642"/>
                </a:solidFill>
                <a:effectLst/>
                <a:uFillTx/>
                <a:latin typeface="Arial"/>
                <a:ea typeface="DejaVu Sans"/>
              </a:rPr>
              <a:t>Retrieving 3 vs. 25 documents cut context tokens by 86% (316 vs. 2,329); e5 had the best MRR of 6 retrievers (0.90).</a:t>
            </a:r>
            <a:endParaRPr lang="en-US" sz="1500" b="0" u="none" strike="noStrike">
              <a:solidFill>
                <a:srgbClr val="000000"/>
              </a:solidFill>
              <a:effectLst/>
              <a:uFillTx/>
              <a:latin typeface="Arial"/>
            </a:endParaRPr>
          </a:p>
        </p:txBody>
      </p:sp>
      <p:sp>
        <p:nvSpPr>
          <p:cNvPr id="98" name="TextBox 25"/>
          <p:cNvSpPr/>
          <p:nvPr/>
        </p:nvSpPr>
        <p:spPr>
          <a:xfrm>
            <a:off x="11503080" y="5961888"/>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3</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0" name="PlaceHolder 2"/>
          <p:cNvSpPr>
            <a:spLocks noGrp="1"/>
          </p:cNvSpPr>
          <p:nvPr>
            <p:ph/>
          </p:nvPr>
        </p:nvSpPr>
        <p:spPr>
          <a:xfrm>
            <a:off x="391068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1" name="PlaceHolder 3"/>
          <p:cNvSpPr>
            <a:spLocks noGrp="1"/>
          </p:cNvSpPr>
          <p:nvPr>
            <p:ph/>
          </p:nvPr>
        </p:nvSpPr>
        <p:spPr>
          <a:xfrm>
            <a:off x="391068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2" name="PlaceHolder 4"/>
          <p:cNvSpPr>
            <a:spLocks noGrp="1"/>
          </p:cNvSpPr>
          <p:nvPr>
            <p:ph/>
          </p:nvPr>
        </p:nvSpPr>
        <p:spPr>
          <a:xfrm>
            <a:off x="6723000" y="1919520"/>
            <a:ext cx="208944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3" name="PlaceHolder 5"/>
          <p:cNvSpPr>
            <a:spLocks noGrp="1"/>
          </p:cNvSpPr>
          <p:nvPr>
            <p:ph/>
          </p:nvPr>
        </p:nvSpPr>
        <p:spPr>
          <a:xfrm>
            <a:off x="672300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4" name="PlaceHolder 6"/>
          <p:cNvSpPr>
            <a:spLocks noGrp="1"/>
          </p:cNvSpPr>
          <p:nvPr>
            <p:ph/>
          </p:nvPr>
        </p:nvSpPr>
        <p:spPr>
          <a:xfrm>
            <a:off x="944352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5" name="PlaceHolder 7"/>
          <p:cNvSpPr>
            <a:spLocks noGrp="1"/>
          </p:cNvSpPr>
          <p:nvPr>
            <p:ph/>
          </p:nvPr>
        </p:nvSpPr>
        <p:spPr>
          <a:xfrm>
            <a:off x="944352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6" name="TextBox 11"/>
          <p:cNvSpPr/>
          <p:nvPr/>
        </p:nvSpPr>
        <p:spPr>
          <a:xfrm>
            <a:off x="567000" y="704160"/>
            <a:ext cx="2797200" cy="1067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Evaluation</a:t>
            </a:r>
            <a:endParaRPr lang="en-US" sz="3500" b="0" u="none" strike="noStrike">
              <a:solidFill>
                <a:srgbClr val="000000"/>
              </a:solidFill>
              <a:effectLst/>
              <a:uFillTx/>
              <a:latin typeface="Arial"/>
            </a:endParaRPr>
          </a:p>
          <a:p>
            <a:pPr defTabSz="914400">
              <a:lnSpc>
                <a:spcPct val="100000"/>
              </a:lnSpc>
            </a:pPr>
            <a:r>
              <a:rPr lang="hu-HU" sz="3500" b="1" u="none" strike="noStrike">
                <a:solidFill>
                  <a:srgbClr val="221818"/>
                </a:solidFill>
                <a:effectLst/>
                <a:uFillTx/>
                <a:latin typeface="Arial"/>
                <a:ea typeface="DejaVu Sans"/>
              </a:rPr>
              <a:t>design</a:t>
            </a:r>
            <a:endParaRPr lang="en-US" sz="3500" b="0" u="none" strike="noStrike">
              <a:solidFill>
                <a:srgbClr val="000000"/>
              </a:solidFill>
              <a:effectLst/>
              <a:uFillTx/>
              <a:latin typeface="Arial"/>
            </a:endParaRPr>
          </a:p>
        </p:txBody>
      </p:sp>
      <p:sp>
        <p:nvSpPr>
          <p:cNvPr id="107" name="Rectangle 12"/>
          <p:cNvSpPr/>
          <p:nvPr/>
        </p:nvSpPr>
        <p:spPr>
          <a:xfrm>
            <a:off x="612720" y="208476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08" name="TextBox 13"/>
          <p:cNvSpPr/>
          <p:nvPr/>
        </p:nvSpPr>
        <p:spPr>
          <a:xfrm>
            <a:off x="612720" y="2441520"/>
            <a:ext cx="2760840" cy="1203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7900" b="1" u="none" strike="noStrike">
                <a:solidFill>
                  <a:srgbClr val="FF3E31"/>
                </a:solidFill>
                <a:effectLst/>
                <a:uFillTx/>
                <a:latin typeface="Arial"/>
                <a:ea typeface="DejaVu Sans"/>
              </a:rPr>
              <a:t>34</a:t>
            </a:r>
            <a:endParaRPr lang="en-US" sz="7900" b="0" u="none" strike="noStrike">
              <a:solidFill>
                <a:srgbClr val="000000"/>
              </a:solidFill>
              <a:effectLst/>
              <a:uFillTx/>
              <a:latin typeface="Arial"/>
            </a:endParaRPr>
          </a:p>
        </p:txBody>
      </p:sp>
      <p:sp>
        <p:nvSpPr>
          <p:cNvPr id="109" name="TextBox 14"/>
          <p:cNvSpPr/>
          <p:nvPr/>
        </p:nvSpPr>
        <p:spPr>
          <a:xfrm>
            <a:off x="667440" y="3602880"/>
            <a:ext cx="275148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predefined cases</a:t>
            </a:r>
            <a:endParaRPr lang="en-US" sz="2000" b="0" u="none" strike="noStrike">
              <a:solidFill>
                <a:srgbClr val="000000"/>
              </a:solidFill>
              <a:effectLst/>
              <a:uFillTx/>
              <a:latin typeface="Arial"/>
            </a:endParaRPr>
          </a:p>
          <a:p>
            <a:pPr defTabSz="914400">
              <a:lnSpc>
                <a:spcPct val="100000"/>
              </a:lnSpc>
            </a:pPr>
            <a:r>
              <a:rPr lang="hu-HU" sz="2000" b="1" u="none" strike="noStrike">
                <a:solidFill>
                  <a:srgbClr val="221818"/>
                </a:solidFill>
                <a:effectLst/>
                <a:uFillTx/>
                <a:latin typeface="Arial"/>
                <a:ea typeface="DejaVu Sans"/>
              </a:rPr>
              <a:t>in 10 groups</a:t>
            </a:r>
            <a:endParaRPr lang="en-US" sz="2000" b="0" u="none" strike="noStrike">
              <a:solidFill>
                <a:srgbClr val="000000"/>
              </a:solidFill>
              <a:effectLst/>
              <a:uFillTx/>
              <a:latin typeface="Arial"/>
            </a:endParaRPr>
          </a:p>
        </p:txBody>
      </p:sp>
      <p:sp>
        <p:nvSpPr>
          <p:cNvPr id="110" name="TextBox 15"/>
          <p:cNvSpPr/>
          <p:nvPr/>
        </p:nvSpPr>
        <p:spPr>
          <a:xfrm>
            <a:off x="649080" y="4855320"/>
            <a:ext cx="2687760" cy="777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6F4642"/>
                </a:solidFill>
                <a:effectLst/>
                <a:uFillTx/>
                <a:latin typeface="Arial"/>
                <a:ea typeface="DejaVu Sans"/>
              </a:rPr>
              <a:t>Cases written up front; revised only when the design changed.</a:t>
            </a:r>
            <a:endParaRPr lang="en-US" sz="1700" b="0" u="none" strike="noStrike">
              <a:solidFill>
                <a:srgbClr val="000000"/>
              </a:solidFill>
              <a:effectLst/>
              <a:uFillTx/>
              <a:latin typeface="Arial"/>
            </a:endParaRPr>
          </a:p>
        </p:txBody>
      </p:sp>
      <p:sp>
        <p:nvSpPr>
          <p:cNvPr id="111" name="TextBox 16"/>
          <p:cNvSpPr/>
          <p:nvPr/>
        </p:nvSpPr>
        <p:spPr>
          <a:xfrm>
            <a:off x="385884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PASS RULE</a:t>
            </a:r>
            <a:endParaRPr lang="en-US" sz="2000" b="0" u="none" strike="noStrike">
              <a:solidFill>
                <a:srgbClr val="000000"/>
              </a:solidFill>
              <a:effectLst/>
              <a:uFillTx/>
              <a:latin typeface="Arial"/>
            </a:endParaRPr>
          </a:p>
        </p:txBody>
      </p:sp>
      <p:sp>
        <p:nvSpPr>
          <p:cNvPr id="112" name="TextBox 17"/>
          <p:cNvSpPr/>
          <p:nvPr/>
        </p:nvSpPr>
        <p:spPr>
          <a:xfrm>
            <a:off x="3858840" y="2761560"/>
            <a:ext cx="225792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Expected answer or refusal</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All required facts present</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Nothing forbidden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Correct tool decision</a:t>
            </a:r>
            <a:endParaRPr lang="en-US" sz="1600" b="0" u="none" strike="noStrike">
              <a:solidFill>
                <a:srgbClr val="000000"/>
              </a:solidFill>
              <a:effectLst/>
              <a:uFillTx/>
              <a:latin typeface="Arial"/>
            </a:endParaRPr>
          </a:p>
        </p:txBody>
      </p:sp>
      <p:sp>
        <p:nvSpPr>
          <p:cNvPr id="113" name="TextBox 18"/>
          <p:cNvSpPr/>
          <p:nvPr/>
        </p:nvSpPr>
        <p:spPr>
          <a:xfrm>
            <a:off x="662940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CASE COVERAGE</a:t>
            </a:r>
            <a:endParaRPr lang="en-US" sz="2000" b="0" u="none" strike="noStrike">
              <a:solidFill>
                <a:srgbClr val="000000"/>
              </a:solidFill>
              <a:effectLst/>
              <a:uFillTx/>
              <a:latin typeface="Arial"/>
            </a:endParaRPr>
          </a:p>
        </p:txBody>
      </p:sp>
      <p:sp>
        <p:nvSpPr>
          <p:cNvPr id="114" name="TextBox 19"/>
          <p:cNvSpPr/>
          <p:nvPr/>
        </p:nvSpPr>
        <p:spPr>
          <a:xfrm>
            <a:off x="6629400" y="2761560"/>
            <a:ext cx="227628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Policies and exceptions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4 order lookups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Typo + German query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Injection, off-topic, card data</a:t>
            </a:r>
            <a:endParaRPr lang="en-US" sz="1600" b="0" u="none" strike="noStrike">
              <a:solidFill>
                <a:srgbClr val="000000"/>
              </a:solidFill>
              <a:effectLst/>
              <a:uFillTx/>
              <a:latin typeface="Arial"/>
            </a:endParaRPr>
          </a:p>
        </p:txBody>
      </p:sp>
      <p:sp>
        <p:nvSpPr>
          <p:cNvPr id="115" name="TextBox 20"/>
          <p:cNvSpPr/>
          <p:nvPr/>
        </p:nvSpPr>
        <p:spPr>
          <a:xfrm>
            <a:off x="9363600" y="1636920"/>
            <a:ext cx="2285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OTHER METRICS</a:t>
            </a:r>
            <a:endParaRPr lang="en-US" sz="2000" b="0" u="none" strike="noStrike">
              <a:solidFill>
                <a:srgbClr val="000000"/>
              </a:solidFill>
              <a:effectLst/>
              <a:uFillTx/>
              <a:latin typeface="Arial"/>
            </a:endParaRPr>
          </a:p>
        </p:txBody>
      </p:sp>
      <p:sp>
        <p:nvSpPr>
          <p:cNvPr id="116" name="TextBox 21"/>
          <p:cNvSpPr/>
          <p:nvPr/>
        </p:nvSpPr>
        <p:spPr>
          <a:xfrm>
            <a:off x="9363600" y="2761560"/>
            <a:ext cx="223056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Category / urgency accuracy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6 retrieval strategies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Guardrails-off ablation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gpt-oss-20b judge (1–5)</a:t>
            </a:r>
            <a:endParaRPr lang="en-US" sz="1600" b="0" u="none" strike="noStrike">
              <a:solidFill>
                <a:srgbClr val="000000"/>
              </a:solidFill>
              <a:effectLst/>
              <a:uFillTx/>
              <a:latin typeface="Arial"/>
            </a:endParaRPr>
          </a:p>
        </p:txBody>
      </p:sp>
      <p:sp>
        <p:nvSpPr>
          <p:cNvPr id="117"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4</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sldNum" idx="9"/>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dk1"/>
              </a:solidFill>
              <a:effectLst/>
              <a:uFillTx/>
              <a:latin typeface="Arial"/>
            </a:endParaRPr>
          </a:p>
        </p:txBody>
      </p:sp>
      <p:sp>
        <p:nvSpPr>
          <p:cNvPr id="119" name="PlaceHolder 2"/>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3200" b="0" u="none" strike="noStrike">
              <a:solidFill>
                <a:schemeClr val="dk1"/>
              </a:solidFill>
              <a:effectLst/>
              <a:uFillTx/>
              <a:latin typeface="Arial"/>
            </a:endParaRPr>
          </a:p>
        </p:txBody>
      </p:sp>
      <p:sp>
        <p:nvSpPr>
          <p:cNvPr id="120" name="TextBox 15"/>
          <p:cNvSpPr/>
          <p:nvPr/>
        </p:nvSpPr>
        <p:spPr>
          <a:xfrm>
            <a:off x="567000" y="603360"/>
            <a:ext cx="2861280" cy="1036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Results and</a:t>
            </a:r>
            <a:endParaRPr lang="en-US" sz="3400" b="0" u="none" strike="noStrike">
              <a:solidFill>
                <a:srgbClr val="000000"/>
              </a:solidFill>
              <a:effectLst/>
              <a:uFillTx/>
              <a:latin typeface="Arial"/>
            </a:endParaRPr>
          </a:p>
          <a:p>
            <a:pPr defTabSz="914400">
              <a:lnSpc>
                <a:spcPct val="100000"/>
              </a:lnSpc>
            </a:pPr>
            <a:r>
              <a:rPr lang="hu-HU" sz="3400" b="1" u="none" strike="noStrike">
                <a:solidFill>
                  <a:srgbClr val="221818"/>
                </a:solidFill>
                <a:effectLst/>
                <a:uFillTx/>
                <a:latin typeface="Arial"/>
                <a:ea typeface="DejaVu Sans"/>
              </a:rPr>
              <a:t>diagnostics</a:t>
            </a:r>
            <a:endParaRPr lang="en-US" sz="3400" b="0" u="none" strike="noStrike">
              <a:solidFill>
                <a:srgbClr val="000000"/>
              </a:solidFill>
              <a:effectLst/>
              <a:uFillTx/>
              <a:latin typeface="Arial"/>
            </a:endParaRPr>
          </a:p>
        </p:txBody>
      </p:sp>
      <p:sp>
        <p:nvSpPr>
          <p:cNvPr id="121" name="Rectangle 16"/>
          <p:cNvSpPr/>
          <p:nvPr/>
        </p:nvSpPr>
        <p:spPr>
          <a:xfrm>
            <a:off x="631080" y="201168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22" name="TextBox 17"/>
          <p:cNvSpPr/>
          <p:nvPr/>
        </p:nvSpPr>
        <p:spPr>
          <a:xfrm>
            <a:off x="603360" y="2432160"/>
            <a:ext cx="2971080" cy="7470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4900" b="1" u="none" strike="noStrike">
                <a:solidFill>
                  <a:srgbClr val="FF3E31"/>
                </a:solidFill>
                <a:effectLst/>
                <a:uFillTx/>
                <a:latin typeface="Arial"/>
                <a:ea typeface="DejaVu Sans"/>
              </a:rPr>
              <a:t>33 / 34</a:t>
            </a:r>
            <a:endParaRPr lang="en-US" sz="4900" b="0" u="none" strike="noStrike">
              <a:solidFill>
                <a:srgbClr val="000000"/>
              </a:solidFill>
              <a:effectLst/>
              <a:uFillTx/>
              <a:latin typeface="Arial"/>
            </a:endParaRPr>
          </a:p>
        </p:txBody>
      </p:sp>
      <p:sp>
        <p:nvSpPr>
          <p:cNvPr id="123" name="TextBox 18"/>
          <p:cNvSpPr/>
          <p:nvPr/>
        </p:nvSpPr>
        <p:spPr>
          <a:xfrm>
            <a:off x="640080" y="3474720"/>
            <a:ext cx="28429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1" u="none" strike="noStrike">
                <a:solidFill>
                  <a:srgbClr val="221818"/>
                </a:solidFill>
                <a:effectLst/>
                <a:uFillTx/>
                <a:latin typeface="Arial"/>
                <a:ea typeface="DejaVu Sans"/>
              </a:rPr>
              <a:t>cases passed (97%)</a:t>
            </a:r>
            <a:endParaRPr lang="en-US" sz="1900" b="0" u="none" strike="noStrike">
              <a:solidFill>
                <a:srgbClr val="000000"/>
              </a:solidFill>
              <a:effectLst/>
              <a:uFillTx/>
              <a:latin typeface="Arial"/>
            </a:endParaRPr>
          </a:p>
        </p:txBody>
      </p:sp>
      <p:sp>
        <p:nvSpPr>
          <p:cNvPr id="124" name="TextBox 19"/>
          <p:cNvSpPr/>
          <p:nvPr/>
        </p:nvSpPr>
        <p:spPr>
          <a:xfrm>
            <a:off x="631080" y="4206240"/>
            <a:ext cx="283464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6F4642"/>
                </a:solidFill>
                <a:effectLst/>
                <a:uFillTx/>
                <a:latin typeface="Arial"/>
                <a:ea typeface="DejaVu Sans"/>
              </a:rPr>
              <a:t>Good small-scale evidence of a functioning chatbot; not proof of readiness for real customers.</a:t>
            </a:r>
            <a:endParaRPr lang="en-US" sz="1800" b="0" u="none" strike="noStrike">
              <a:solidFill>
                <a:srgbClr val="000000"/>
              </a:solidFill>
              <a:effectLst/>
              <a:uFillTx/>
              <a:latin typeface="Arial"/>
            </a:endParaRPr>
          </a:p>
        </p:txBody>
      </p:sp>
      <p:sp>
        <p:nvSpPr>
          <p:cNvPr id="125" name="TextBox 20"/>
          <p:cNvSpPr/>
          <p:nvPr/>
        </p:nvSpPr>
        <p:spPr>
          <a:xfrm>
            <a:off x="3849480" y="2277000"/>
            <a:ext cx="2276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STRUCTURE</a:t>
            </a:r>
            <a:endParaRPr lang="en-US" sz="2000" b="0" u="none" strike="noStrike">
              <a:solidFill>
                <a:srgbClr val="000000"/>
              </a:solidFill>
              <a:effectLst/>
              <a:uFillTx/>
              <a:latin typeface="Arial"/>
            </a:endParaRPr>
          </a:p>
        </p:txBody>
      </p:sp>
      <p:sp>
        <p:nvSpPr>
          <p:cNvPr id="126" name="TextBox 21"/>
          <p:cNvSpPr/>
          <p:nvPr/>
        </p:nvSpPr>
        <p:spPr>
          <a:xfrm>
            <a:off x="3849480" y="3282840"/>
            <a:ext cx="2285280" cy="1198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FFFF"/>
                </a:solidFill>
                <a:effectLst/>
                <a:uFillTx/>
                <a:latin typeface="Arial"/>
                <a:ea typeface="DejaVu Sans"/>
              </a:rPr>
              <a:t>100% valid JSON</a:t>
            </a:r>
            <a:endParaRPr lang="en-US" sz="1800" b="0" u="none" strike="noStrike">
              <a:solidFill>
                <a:srgbClr val="000000"/>
              </a:solidFill>
              <a:effectLst/>
              <a:uFillTx/>
              <a:latin typeface="Arial"/>
            </a:endParaRPr>
          </a:p>
          <a:p>
            <a:pPr defTabSz="914400">
              <a:lnSpc>
                <a:spcPct val="100000"/>
              </a:lnSpc>
              <a:spcBef>
                <a:spcPts val="1599"/>
              </a:spcBef>
            </a:pPr>
            <a:r>
              <a:rPr lang="hu-HU" sz="1800" b="1" u="none" strike="noStrike">
                <a:solidFill>
                  <a:srgbClr val="FFFFFF"/>
                </a:solidFill>
                <a:effectLst/>
                <a:uFillTx/>
                <a:latin typeface="Arial"/>
                <a:ea typeface="DejaVu Sans"/>
              </a:rPr>
              <a:t>100% tool decisions</a:t>
            </a:r>
            <a:endParaRPr lang="en-US" sz="18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8.1 s mean latency</a:t>
            </a:r>
            <a:endParaRPr lang="en-US" sz="16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1,604 prompt + 103 output tokens per answer</a:t>
            </a:r>
            <a:endParaRPr lang="en-US" sz="1600" b="0" u="none" strike="noStrike">
              <a:solidFill>
                <a:srgbClr val="000000"/>
              </a:solidFill>
              <a:effectLst/>
              <a:uFillTx/>
              <a:latin typeface="Arial"/>
            </a:endParaRPr>
          </a:p>
        </p:txBody>
      </p:sp>
      <p:sp>
        <p:nvSpPr>
          <p:cNvPr id="127" name="TextBox 22"/>
          <p:cNvSpPr/>
          <p:nvPr/>
        </p:nvSpPr>
        <p:spPr>
          <a:xfrm>
            <a:off x="6611040" y="2277000"/>
            <a:ext cx="2294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QUALITY</a:t>
            </a:r>
            <a:endParaRPr lang="en-US" sz="2000" b="0" u="none" strike="noStrike">
              <a:solidFill>
                <a:srgbClr val="000000"/>
              </a:solidFill>
              <a:effectLst/>
              <a:uFillTx/>
              <a:latin typeface="Arial"/>
            </a:endParaRPr>
          </a:p>
        </p:txBody>
      </p:sp>
      <p:sp>
        <p:nvSpPr>
          <p:cNvPr id="128" name="TextBox 23"/>
          <p:cNvSpPr/>
          <p:nvPr/>
        </p:nvSpPr>
        <p:spPr>
          <a:xfrm>
            <a:off x="6611040" y="3282840"/>
            <a:ext cx="2276280" cy="1742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Category: 97%</a:t>
            </a:r>
            <a:endParaRPr lang="en-US" sz="1800" b="0" u="none" strike="noStrike">
              <a:solidFill>
                <a:srgbClr val="000000"/>
              </a:solidFill>
              <a:effectLst/>
              <a:uFillTx/>
              <a:latin typeface="Arial"/>
            </a:endParaRPr>
          </a:p>
          <a:p>
            <a:pPr defTabSz="914400">
              <a:lnSpc>
                <a:spcPct val="100000"/>
              </a:lnSpc>
              <a:spcBef>
                <a:spcPts val="1001"/>
              </a:spcBef>
            </a:pPr>
            <a:r>
              <a:rPr lang="hu-HU" sz="1800" b="1" u="none" strike="noStrike">
                <a:solidFill>
                  <a:srgbClr val="221818"/>
                </a:solidFill>
                <a:effectLst/>
                <a:uFillTx/>
                <a:latin typeface="Arial"/>
                <a:ea typeface="DejaVu Sans"/>
              </a:rPr>
              <a:t>Urgency: 88%</a:t>
            </a:r>
            <a:endParaRPr lang="en-US" sz="18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Judge: 5.00 / 5 correct</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5.00 / 5 grounded</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4.59 / 5 helpful</a:t>
            </a:r>
            <a:endParaRPr lang="en-US" sz="1500" b="0" u="none" strike="noStrike">
              <a:solidFill>
                <a:srgbClr val="000000"/>
              </a:solidFill>
              <a:effectLst/>
              <a:uFillTx/>
              <a:latin typeface="Arial"/>
            </a:endParaRPr>
          </a:p>
        </p:txBody>
      </p:sp>
      <p:sp>
        <p:nvSpPr>
          <p:cNvPr id="129" name="TextBox 24"/>
          <p:cNvSpPr/>
          <p:nvPr/>
        </p:nvSpPr>
        <p:spPr>
          <a:xfrm>
            <a:off x="9354240" y="2277000"/>
            <a:ext cx="2285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FAILURE ANALYSIS</a:t>
            </a:r>
            <a:endParaRPr lang="en-US" sz="1800" b="0" u="none" strike="noStrike">
              <a:solidFill>
                <a:srgbClr val="000000"/>
              </a:solidFill>
              <a:effectLst/>
              <a:uFillTx/>
              <a:latin typeface="Arial"/>
            </a:endParaRPr>
          </a:p>
        </p:txBody>
      </p:sp>
      <p:sp>
        <p:nvSpPr>
          <p:cNvPr id="130" name="TextBox 25"/>
          <p:cNvSpPr/>
          <p:nvPr/>
        </p:nvSpPr>
        <p:spPr>
          <a:xfrm>
            <a:off x="9354240" y="3255120"/>
            <a:ext cx="2239560" cy="1879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T30: keyword grader wrongly rejected a safe card refusal.</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Guardrails on/off: 5/6 vs 4/6 attack + off-topic cases passed.</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Order lookups: 16–24 s.</a:t>
            </a:r>
            <a:endParaRPr lang="en-US" sz="1500" b="0" u="none" strike="noStrike">
              <a:solidFill>
                <a:srgbClr val="000000"/>
              </a:solidFill>
              <a:effectLst/>
              <a:uFillTx/>
              <a:latin typeface="Arial"/>
            </a:endParaRPr>
          </a:p>
        </p:txBody>
      </p:sp>
      <p:sp>
        <p:nvSpPr>
          <p:cNvPr id="131" name="TextBox 26"/>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5</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p:nvPr>
        </p:nvSpPr>
        <p:spPr>
          <a:xfrm>
            <a:off x="282240" y="2005920"/>
            <a:ext cx="4604760" cy="129240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sp>
        <p:nvSpPr>
          <p:cNvPr id="133" name="PlaceHolder 2"/>
          <p:cNvSpPr>
            <a:spLocks noGrp="1"/>
          </p:cNvSpPr>
          <p:nvPr>
            <p:ph type="sldNum" idx="10"/>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lt1"/>
              </a:solidFill>
              <a:effectLst/>
              <a:uFillTx/>
              <a:latin typeface="Arial"/>
            </a:endParaRPr>
          </a:p>
        </p:txBody>
      </p:sp>
      <p:sp>
        <p:nvSpPr>
          <p:cNvPr id="134" name="PlaceHolder 3"/>
          <p:cNvSpPr>
            <a:spLocks noGrp="1"/>
          </p:cNvSpPr>
          <p:nvPr>
            <p:ph/>
          </p:nvPr>
        </p:nvSpPr>
        <p:spPr>
          <a:xfrm>
            <a:off x="282240" y="3558960"/>
            <a:ext cx="4638960" cy="193968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grpSp>
        <p:nvGrpSpPr>
          <p:cNvPr id="135" name="Csoportba foglalás 7"/>
          <p:cNvGrpSpPr/>
          <p:nvPr/>
        </p:nvGrpSpPr>
        <p:grpSpPr>
          <a:xfrm>
            <a:off x="6393960" y="327600"/>
            <a:ext cx="5382000" cy="6170400"/>
            <a:chOff x="6393960" y="327600"/>
            <a:chExt cx="5382000" cy="6170400"/>
          </a:xfrm>
        </p:grpSpPr>
        <p:sp>
          <p:nvSpPr>
            <p:cNvPr id="136" name="Téglalap 8"/>
            <p:cNvSpPr/>
            <p:nvPr/>
          </p:nvSpPr>
          <p:spPr>
            <a:xfrm>
              <a:off x="6393960" y="6274440"/>
              <a:ext cx="5382000" cy="22356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37" name="Szalagív 9"/>
            <p:cNvSpPr/>
            <p:nvPr/>
          </p:nvSpPr>
          <p:spPr>
            <a:xfrm>
              <a:off x="6393960" y="32760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sp>
        <p:nvSpPr>
          <p:cNvPr id="138" name="TextBox 10"/>
          <p:cNvSpPr/>
          <p:nvPr/>
        </p:nvSpPr>
        <p:spPr>
          <a:xfrm>
            <a:off x="548640" y="1344240"/>
            <a:ext cx="65829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100" b="1" u="none" strike="noStrike">
                <a:solidFill>
                  <a:srgbClr val="FFFFFF"/>
                </a:solidFill>
                <a:effectLst/>
                <a:uFillTx/>
                <a:latin typeface="Arial"/>
                <a:ea typeface="DejaVu Sans"/>
              </a:rPr>
              <a:t>Limitations and responsible use</a:t>
            </a:r>
            <a:endParaRPr lang="en-US" sz="3100" b="0" u="none" strike="noStrike">
              <a:solidFill>
                <a:srgbClr val="FFFFFF"/>
              </a:solidFill>
              <a:effectLst/>
              <a:uFillTx/>
              <a:latin typeface="Arial"/>
            </a:endParaRPr>
          </a:p>
        </p:txBody>
      </p:sp>
      <p:sp>
        <p:nvSpPr>
          <p:cNvPr id="139" name="TextBox 11"/>
          <p:cNvSpPr/>
          <p:nvPr/>
        </p:nvSpPr>
        <p:spPr>
          <a:xfrm>
            <a:off x="576000" y="2020680"/>
            <a:ext cx="63817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FDE2DA"/>
                </a:solidFill>
                <a:effectLst/>
                <a:uFillTx/>
                <a:latin typeface="Arial"/>
                <a:ea typeface="DejaVu Sans"/>
              </a:rPr>
              <a:t>97% on synthetic tests is not deployment readiness.</a:t>
            </a:r>
            <a:endParaRPr lang="en-US" sz="1900" b="0" u="none" strike="noStrike">
              <a:solidFill>
                <a:srgbClr val="FFFFFF"/>
              </a:solidFill>
              <a:effectLst/>
              <a:uFillTx/>
              <a:latin typeface="Arial"/>
            </a:endParaRPr>
          </a:p>
        </p:txBody>
      </p:sp>
      <p:sp>
        <p:nvSpPr>
          <p:cNvPr id="140" name="Rectangle 12"/>
          <p:cNvSpPr/>
          <p:nvPr/>
        </p:nvSpPr>
        <p:spPr>
          <a:xfrm>
            <a:off x="585360" y="2679120"/>
            <a:ext cx="101412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41" name="TextBox 13"/>
          <p:cNvSpPr/>
          <p:nvPr/>
        </p:nvSpPr>
        <p:spPr>
          <a:xfrm>
            <a:off x="612720" y="295344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TEST COVERAGE</a:t>
            </a:r>
            <a:endParaRPr lang="en-US" sz="1400" b="0" u="none" strike="noStrike">
              <a:solidFill>
                <a:srgbClr val="FFFFFF"/>
              </a:solidFill>
              <a:effectLst/>
              <a:uFillTx/>
              <a:latin typeface="Arial"/>
            </a:endParaRPr>
          </a:p>
        </p:txBody>
      </p:sp>
      <p:sp>
        <p:nvSpPr>
          <p:cNvPr id="142" name="TextBox 14"/>
          <p:cNvSpPr/>
          <p:nvPr/>
        </p:nvSpPr>
        <p:spPr>
          <a:xfrm>
            <a:off x="2487240" y="293976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34 self-written cases; limited safety and multi-turn coverage.</a:t>
            </a:r>
            <a:endParaRPr lang="en-US" sz="1600" b="0" u="none" strike="noStrike">
              <a:solidFill>
                <a:srgbClr val="FFFFFF"/>
              </a:solidFill>
              <a:effectLst/>
              <a:uFillTx/>
              <a:latin typeface="Arial"/>
            </a:endParaRPr>
          </a:p>
        </p:txBody>
      </p:sp>
      <p:sp>
        <p:nvSpPr>
          <p:cNvPr id="143" name="TextBox 15"/>
          <p:cNvSpPr/>
          <p:nvPr/>
        </p:nvSpPr>
        <p:spPr>
          <a:xfrm>
            <a:off x="612720" y="366660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PRIVACY</a:t>
            </a:r>
            <a:endParaRPr lang="en-US" sz="1400" b="0" u="none" strike="noStrike">
              <a:solidFill>
                <a:srgbClr val="FFFFFF"/>
              </a:solidFill>
              <a:effectLst/>
              <a:uFillTx/>
              <a:latin typeface="Arial"/>
            </a:endParaRPr>
          </a:p>
        </p:txBody>
      </p:sp>
      <p:sp>
        <p:nvSpPr>
          <p:cNvPr id="144" name="TextBox 16"/>
          <p:cNvSpPr/>
          <p:nvPr/>
        </p:nvSpPr>
        <p:spPr>
          <a:xfrm>
            <a:off x="2487240" y="365292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Order number alone reveals status; CVV and expiry are not masked.</a:t>
            </a:r>
            <a:endParaRPr lang="en-US" sz="1600" b="0" u="none" strike="noStrike">
              <a:solidFill>
                <a:srgbClr val="FFFFFF"/>
              </a:solidFill>
              <a:effectLst/>
              <a:uFillTx/>
              <a:latin typeface="Arial"/>
            </a:endParaRPr>
          </a:p>
        </p:txBody>
      </p:sp>
      <p:sp>
        <p:nvSpPr>
          <p:cNvPr id="145" name="TextBox 17"/>
          <p:cNvSpPr/>
          <p:nvPr/>
        </p:nvSpPr>
        <p:spPr>
          <a:xfrm>
            <a:off x="612720" y="438012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ROBUSTNESS</a:t>
            </a:r>
            <a:endParaRPr lang="en-US" sz="1400" b="0" u="none" strike="noStrike">
              <a:solidFill>
                <a:srgbClr val="FFFFFF"/>
              </a:solidFill>
              <a:effectLst/>
              <a:uFillTx/>
              <a:latin typeface="Arial"/>
            </a:endParaRPr>
          </a:p>
        </p:txBody>
      </p:sp>
      <p:sp>
        <p:nvSpPr>
          <p:cNvPr id="146" name="TextBox 18"/>
          <p:cNvSpPr/>
          <p:nvPr/>
        </p:nvSpPr>
        <p:spPr>
          <a:xfrm>
            <a:off x="2487240" y="436644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Fixed list of 9 attack phrases; nested tags bypass tag stripping.</a:t>
            </a:r>
            <a:endParaRPr lang="en-US" sz="1600" b="0" u="none" strike="noStrike">
              <a:solidFill>
                <a:srgbClr val="FFFFFF"/>
              </a:solidFill>
              <a:effectLst/>
              <a:uFillTx/>
              <a:latin typeface="Arial"/>
            </a:endParaRPr>
          </a:p>
        </p:txBody>
      </p:sp>
      <p:sp>
        <p:nvSpPr>
          <p:cNvPr id="147" name="TextBox 19"/>
          <p:cNvSpPr/>
          <p:nvPr/>
        </p:nvSpPr>
        <p:spPr>
          <a:xfrm>
            <a:off x="612720" y="509328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RETRIEVAL &amp; TOOL</a:t>
            </a:r>
            <a:endParaRPr lang="en-US" sz="1400" b="0" u="none" strike="noStrike">
              <a:solidFill>
                <a:srgbClr val="FFFFFF"/>
              </a:solidFill>
              <a:effectLst/>
              <a:uFillTx/>
              <a:latin typeface="Arial"/>
            </a:endParaRPr>
          </a:p>
        </p:txBody>
      </p:sp>
      <p:sp>
        <p:nvSpPr>
          <p:cNvPr id="148" name="TextBox 20"/>
          <p:cNvSpPr/>
          <p:nvPr/>
        </p:nvSpPr>
        <p:spPr>
          <a:xfrm>
            <a:off x="2487240" y="507960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No similarity threshold: top 3 always sent; no tool-call limit.</a:t>
            </a:r>
            <a:endParaRPr lang="en-US" sz="1600" b="0" u="none" strike="noStrike">
              <a:solidFill>
                <a:srgbClr val="FFFFFF"/>
              </a:solidFill>
              <a:effectLst/>
              <a:uFillTx/>
              <a:latin typeface="Arial"/>
            </a:endParaRPr>
          </a:p>
        </p:txBody>
      </p:sp>
      <p:sp>
        <p:nvSpPr>
          <p:cNvPr id="149" name="Rounded Rectangle 21"/>
          <p:cNvSpPr/>
          <p:nvPr/>
        </p:nvSpPr>
        <p:spPr>
          <a:xfrm>
            <a:off x="6986160" y="3044880"/>
            <a:ext cx="4617000" cy="2550600"/>
          </a:xfrm>
          <a:prstGeom prst="roundRect">
            <a:avLst>
              <a:gd name="adj" fmla="val 16667"/>
            </a:avLst>
          </a:prstGeom>
          <a:solidFill>
            <a:srgbClr val="52120D"/>
          </a:solidFill>
          <a:ln w="6480">
            <a:solidFill>
              <a:srgbClr val="FF3E31"/>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50" name="TextBox 22"/>
          <p:cNvSpPr/>
          <p:nvPr/>
        </p:nvSpPr>
        <p:spPr>
          <a:xfrm>
            <a:off x="7278480" y="3255120"/>
            <a:ext cx="403164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3E31"/>
                </a:solidFill>
                <a:effectLst/>
                <a:uFillTx/>
                <a:latin typeface="Arial"/>
                <a:ea typeface="DejaVu Sans"/>
              </a:rPr>
              <a:t>SCORING &amp; SAFETY</a:t>
            </a:r>
            <a:endParaRPr lang="en-US" sz="2000" b="0" u="none" strike="noStrike">
              <a:solidFill>
                <a:srgbClr val="FFFFFF"/>
              </a:solidFill>
              <a:effectLst/>
              <a:uFillTx/>
              <a:latin typeface="Arial"/>
            </a:endParaRPr>
          </a:p>
        </p:txBody>
      </p:sp>
      <p:sp>
        <p:nvSpPr>
          <p:cNvPr id="151" name="TextBox 23"/>
          <p:cNvSpPr/>
          <p:nvPr/>
        </p:nvSpPr>
        <p:spPr>
          <a:xfrm>
            <a:off x="7278480" y="3858840"/>
            <a:ext cx="4031640" cy="1311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FFFFFF"/>
                </a:solidFill>
                <a:effectLst/>
                <a:uFillTx/>
                <a:latin typeface="Arial"/>
                <a:ea typeface="DejaVu Sans"/>
              </a:rPr>
              <a:t>Keyword checks miss correct refusals (T30); the judge is a smaller model of the same family and grades generously.</a:t>
            </a:r>
            <a:endParaRPr lang="en-US" sz="1700" b="0" u="none" strike="noStrike">
              <a:solidFill>
                <a:srgbClr val="FFFFFF"/>
              </a:solidFill>
              <a:effectLst/>
              <a:uFillTx/>
              <a:latin typeface="Arial"/>
            </a:endParaRPr>
          </a:p>
          <a:p>
            <a:pPr defTabSz="914400">
              <a:lnSpc>
                <a:spcPct val="100000"/>
              </a:lnSpc>
            </a:pPr>
            <a:endParaRPr lang="en-US" sz="1200" b="0" u="none" strike="noStrike">
              <a:solidFill>
                <a:srgbClr val="FFFFFF"/>
              </a:solidFill>
              <a:effectLst/>
              <a:uFillTx/>
              <a:latin typeface="Arial"/>
            </a:endParaRPr>
          </a:p>
          <a:p>
            <a:pPr defTabSz="914400">
              <a:lnSpc>
                <a:spcPct val="100000"/>
              </a:lnSpc>
            </a:pPr>
            <a:r>
              <a:rPr lang="hu-HU" sz="1700" b="0" u="none" strike="noStrike">
                <a:solidFill>
                  <a:srgbClr val="FFFFFF"/>
                </a:solidFill>
                <a:effectLst/>
                <a:uFillTx/>
                <a:latin typeface="Arial"/>
                <a:ea typeface="DejaVu Sans"/>
              </a:rPr>
              <a:t>OWASP-style defences; the read-only tool limits any attack to order statuses.</a:t>
            </a:r>
            <a:endParaRPr lang="en-US" sz="1700" b="0" u="none" strike="noStrike">
              <a:solidFill>
                <a:srgbClr val="FFFFFF"/>
              </a:solidFill>
              <a:effectLst/>
              <a:uFillTx/>
              <a:latin typeface="Arial"/>
            </a:endParaRPr>
          </a:p>
        </p:txBody>
      </p:sp>
      <p:sp>
        <p:nvSpPr>
          <p:cNvPr id="152" name="TextBox 24"/>
          <p:cNvSpPr/>
          <p:nvPr/>
        </p:nvSpPr>
        <p:spPr>
          <a:xfrm>
            <a:off x="7022520" y="5760720"/>
            <a:ext cx="4598640" cy="1983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300" b="0" u="none" strike="noStrike">
                <a:solidFill>
                  <a:srgbClr val="FDE2DA"/>
                </a:solidFill>
                <a:effectLst/>
                <a:uFillTx/>
                <a:latin typeface="Arial"/>
                <a:ea typeface="DejaVu Sans"/>
              </a:rPr>
              <a:t>Course prototype only  •  simulated data  •  no live rollout</a:t>
            </a:r>
            <a:endParaRPr lang="en-US" sz="1300" b="0" u="none" strike="noStrike">
              <a:solidFill>
                <a:srgbClr val="FFFFFF"/>
              </a:solidFill>
              <a:effectLst/>
              <a:uFillTx/>
              <a:latin typeface="Arial"/>
            </a:endParaRPr>
          </a:p>
        </p:txBody>
      </p:sp>
      <p:sp>
        <p:nvSpPr>
          <p:cNvPr id="153" name="TextBox 25"/>
          <p:cNvSpPr/>
          <p:nvPr/>
        </p:nvSpPr>
        <p:spPr>
          <a:xfrm>
            <a:off x="11503080" y="5998464"/>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FDE2DA"/>
                </a:solidFill>
                <a:effectLst/>
                <a:uFillTx/>
                <a:latin typeface="Arial"/>
                <a:ea typeface="DejaVu Sans"/>
              </a:rPr>
              <a:t>6</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2" name="Title"/>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Appendix: demo examples</a:t>
            </a:r>
            <a:endParaRPr lang="en-US" sz="3400" b="0" u="none" strike="noStrike">
              <a:solidFill>
                <a:srgbClr val="000000"/>
              </a:solidFill>
              <a:effectLst/>
              <a:uFillTx/>
              <a:latin typeface="Arial"/>
            </a:endParaRPr>
          </a:p>
        </p:txBody>
      </p:sp>
      <p:sp>
        <p:nvSpPr>
          <p:cNvPr id="63" name="Accent underline"/>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76" name="Page number"/>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7</a:t>
            </a:r>
            <a:endParaRPr lang="en-US" sz="1300" b="0" u="none" strike="noStrike">
              <a:solidFill>
                <a:srgbClr val="000000"/>
              </a:solidFill>
              <a:effectLst/>
              <a:uFillTx/>
              <a:latin typeface="Arial"/>
            </a:endParaRPr>
          </a:p>
        </p:txBody>
      </p:sp>
      <p:sp>
        <p:nvSpPr>
          <p:cNvPr id="141" name="Heading left"/>
          <p:cNvSpPr/>
          <p:nvPr/>
        </p:nvSpPr>
        <p:spPr>
          <a:xfrm>
            <a:off x="594360" y="1371600"/>
            <a:ext cx="5755568"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EARLIER PROTOTYPE (16 OCT)</a:t>
            </a:r>
            <a:endParaRPr lang="en-US" sz="1400" b="0" u="none" strike="noStrike">
              <a:solidFill>
                <a:srgbClr val="FFFFFF"/>
              </a:solidFill>
              <a:effectLst/>
              <a:uFillTx/>
              <a:latin typeface="Arial"/>
            </a:endParaRPr>
          </a:p>
        </p:txBody>
      </p:sp>
      <p:sp>
        <p:nvSpPr>
          <p:cNvPr id="141" name="Heading right"/>
          <p:cNvSpPr/>
          <p:nvPr/>
        </p:nvSpPr>
        <p:spPr>
          <a:xfrm>
            <a:off x="7323226" y="1371600"/>
            <a:ext cx="4289653"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CURRENT VERSION: MULTILINGUAL</a:t>
            </a:r>
            <a:endParaRPr lang="en-US" sz="1400" b="0" u="none" strike="noStrike">
              <a:solidFill>
                <a:srgbClr val="FFFFFF"/>
              </a:solidFill>
              <a:effectLst/>
              <a:uFillTx/>
              <a:latin typeface="Arial"/>
            </a:endParaRPr>
          </a:p>
        </p:txBody>
      </p:sp>
      <p:pic>
        <p:nvPicPr>
          <p:cNvPr id="142" name="Screenshot earlier prototype" descr="Jupyter chat with the 16 Oct prototype: after the e-mail is given, the reply degenerates into a repetition loop and ends with category None."/>
          <p:cNvPicPr>
            <a:picLocks noChangeAspect="1"/>
          </p:cNvPicPr>
          <p:nvPr/>
        </p:nvPicPr>
        <p:blipFill>
          <a:blip r:embed="rId2"/>
          <a:stretch>
            <a:fillRect/>
          </a:stretch>
        </p:blipFill>
        <p:spPr>
          <a:xfrm>
            <a:off x="594360" y="1700784"/>
            <a:ext cx="5755568" cy="3749039"/>
          </a:xfrm>
          <a:prstGeom prst="rect">
            <a:avLst/>
          </a:prstGeom>
          <a:ln w="9525">
            <a:solidFill>
              <a:srgbClr val="6F4642"/>
            </a:solidFill>
          </a:ln>
        </p:spPr>
      </p:pic>
      <p:pic>
        <p:nvPicPr>
          <p:cNvPr id="143" name="Screenshot current version" descr="Streamlit chat with the current Cairnly Assistant: Hungarian, Finnish and English messages each answered in the same language."/>
          <p:cNvPicPr>
            <a:picLocks noChangeAspect="1"/>
          </p:cNvPicPr>
          <p:nvPr/>
        </p:nvPicPr>
        <p:blipFill>
          <a:blip r:embed="rId3"/>
          <a:stretch>
            <a:fillRect/>
          </a:stretch>
        </p:blipFill>
        <p:spPr>
          <a:xfrm>
            <a:off x="7323226" y="1700784"/>
            <a:ext cx="4289653" cy="3749039"/>
          </a:xfrm>
          <a:prstGeom prst="rect">
            <a:avLst/>
          </a:prstGeom>
          <a:ln w="9525">
            <a:solidFill>
              <a:srgbClr val="6F4642"/>
            </a:solidFill>
          </a:ln>
        </p:spPr>
      </p:pic>
      <p:sp>
        <p:nvSpPr>
          <p:cNvPr id="75" name="Caption left"/>
          <p:cNvSpPr/>
          <p:nvPr/>
        </p:nvSpPr>
        <p:spPr>
          <a:xfrm>
            <a:off x="594360" y="5541264"/>
            <a:ext cx="5755568"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Repetition loop: the 1,000-token cap cut the reply before the JSON closed (category = None). Fix: cap raised to 2,500; the e-mail check was removed too.</a:t>
            </a:r>
            <a:endParaRPr lang="en-US" sz="1600" b="0" u="none" strike="noStrike">
              <a:solidFill>
                <a:srgbClr val="000000"/>
              </a:solidFill>
              <a:effectLst/>
              <a:uFillTx/>
              <a:latin typeface="Arial"/>
            </a:endParaRPr>
          </a:p>
        </p:txBody>
      </p:sp>
      <p:sp>
        <p:nvSpPr>
          <p:cNvPr id="75" name="Caption right"/>
          <p:cNvSpPr/>
          <p:nvPr/>
        </p:nvSpPr>
        <p:spPr>
          <a:xfrm>
            <a:off x="7323226" y="5541264"/>
            <a:ext cx="4289653"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Hungarian, Finnish and English in one chat: each reply follows the customer's language; the order number alone is enough.</a:t>
            </a:r>
            <a:endParaRPr lang="en-US" sz="16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Nyitodia_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Belso_diaminta_oldal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Elvalaszto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Kepes_elrendezese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5613</TotalTime>
  <Application>LibreOffice/26.2.6.3$Linux_X86_64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2025-04-10T12:28:01Z</dcterms:created>
  <dc:creator>Microsoft Office User</dc:creator>
  <dc:description>Six-slide academic project presentation using the supplied Corvinus 2025 template.</dc:description>
  <cp:keywords>LLM customer support chatbot RAG academic project Corvinus</cp:keywords>
  <dc:language>en-US</dc:language>
  <cp:lastModifiedBy/>
  <dcterms:modified xsi:type="dcterms:W3CDTF">2026-10-22T14:05:23Z</dcterms:modified>
  <cp:revision>133</cp:revision>
  <dc:subject>Operation of Large Language Models | Corvinus University of Budapest | 2026/27 fall</dc:subject>
  <dc:title>Cairnly Assistant – Project 1, Group 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Szélesvásznú</vt:lpwstr>
  </property>
  <property fmtid="{D5CDD505-2E9C-101B-9397-08002B2CF9AE}" pid="3" name="Slides">
    <vt:r8>7</vt:r8>
  </property>
</Properties>
</file>